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919" r:id="rId3"/>
    <p:sldId id="920" r:id="rId4"/>
    <p:sldId id="921" r:id="rId5"/>
    <p:sldId id="933" r:id="rId6"/>
    <p:sldId id="922" r:id="rId7"/>
    <p:sldId id="923" r:id="rId8"/>
    <p:sldId id="924" r:id="rId9"/>
    <p:sldId id="925" r:id="rId10"/>
    <p:sldId id="926" r:id="rId11"/>
    <p:sldId id="927" r:id="rId12"/>
    <p:sldId id="934" r:id="rId13"/>
    <p:sldId id="929" r:id="rId14"/>
    <p:sldId id="928" r:id="rId15"/>
    <p:sldId id="930" r:id="rId16"/>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2" autoAdjust="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FF7B-7876-476D-9817-44EEECDE7C77}"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DFC35-57B6-4606-A2D9-F0222A5C8A74}" type="slidenum">
              <a:rPr lang="en-IN" smtClean="0"/>
              <a:t>‹#›</a:t>
            </a:fld>
            <a:endParaRPr lang="en-IN"/>
          </a:p>
        </p:txBody>
      </p:sp>
    </p:spTree>
    <p:extLst>
      <p:ext uri="{BB962C8B-B14F-4D97-AF65-F5344CB8AC3E}">
        <p14:creationId xmlns:p14="http://schemas.microsoft.com/office/powerpoint/2010/main" val="392359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1DFC35-57B6-4606-A2D9-F0222A5C8A74}" type="slidenum">
              <a:rPr lang="en-IN" smtClean="0"/>
              <a:t>4</a:t>
            </a:fld>
            <a:endParaRPr lang="en-IN"/>
          </a:p>
        </p:txBody>
      </p:sp>
    </p:spTree>
    <p:extLst>
      <p:ext uri="{BB962C8B-B14F-4D97-AF65-F5344CB8AC3E}">
        <p14:creationId xmlns:p14="http://schemas.microsoft.com/office/powerpoint/2010/main" val="3696983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7" name="Title 6"/>
          <p:cNvSpPr>
            <a:spLocks noGrp="1"/>
          </p:cNvSpPr>
          <p:nvPr>
            <p:ph type="title"/>
          </p:nvPr>
        </p:nvSpPr>
        <p:spPr/>
        <p:txBody>
          <a:bodyPr/>
          <a:lstStyle/>
          <a:p>
            <a:r>
              <a:rPr lang="en-US"/>
              <a:t>Click to edit Master title style</a:t>
            </a:r>
            <a:endParaRPr lang="en-IN"/>
          </a:p>
        </p:txBody>
      </p:sp>
      <p:sp>
        <p:nvSpPr>
          <p:cNvPr id="2" name="Date Placeholder 3">
            <a:extLst>
              <a:ext uri="{FF2B5EF4-FFF2-40B4-BE49-F238E27FC236}">
                <a16:creationId xmlns:a16="http://schemas.microsoft.com/office/drawing/2014/main" id="{D979A335-BFB9-AAF4-8BAA-F6AA4FD1DDC2}"/>
              </a:ext>
            </a:extLst>
          </p:cNvPr>
          <p:cNvSpPr>
            <a:spLocks noGrp="1"/>
          </p:cNvSpPr>
          <p:nvPr>
            <p:ph type="dt" sz="half" idx="10"/>
          </p:nvPr>
        </p:nvSpPr>
        <p:spPr/>
        <p:txBody>
          <a:bodyPr/>
          <a:lstStyle>
            <a:lvl1pPr>
              <a:defRPr/>
            </a:lvl1pPr>
          </a:lstStyle>
          <a:p>
            <a:fld id="{689FF23B-171D-471C-BD36-2D0F3A67807C}" type="datetime1">
              <a:rPr lang="en-IN" smtClean="0"/>
              <a:t>03-05-2025</a:t>
            </a:fld>
            <a:endParaRPr lang="en-IN"/>
          </a:p>
        </p:txBody>
      </p:sp>
      <p:sp>
        <p:nvSpPr>
          <p:cNvPr id="4" name="Footer Placeholder 4">
            <a:extLst>
              <a:ext uri="{FF2B5EF4-FFF2-40B4-BE49-F238E27FC236}">
                <a16:creationId xmlns:a16="http://schemas.microsoft.com/office/drawing/2014/main" id="{724E6499-99E1-5E0A-F4D8-0B5071E41E9E}"/>
              </a:ext>
            </a:extLst>
          </p:cNvPr>
          <p:cNvSpPr>
            <a:spLocks noGrp="1"/>
          </p:cNvSpPr>
          <p:nvPr>
            <p:ph type="ftr" sz="quarter" idx="11"/>
          </p:nvPr>
        </p:nvSpPr>
        <p:spPr/>
        <p:txBody>
          <a:bodyPr/>
          <a:lstStyle>
            <a:lvl1pPr>
              <a:defRPr/>
            </a:lvl1pPr>
          </a:lstStyle>
          <a:p>
            <a:endParaRPr lang="en-IN"/>
          </a:p>
        </p:txBody>
      </p:sp>
      <p:sp>
        <p:nvSpPr>
          <p:cNvPr id="5" name="Slide Number Placeholder 5">
            <a:extLst>
              <a:ext uri="{FF2B5EF4-FFF2-40B4-BE49-F238E27FC236}">
                <a16:creationId xmlns:a16="http://schemas.microsoft.com/office/drawing/2014/main" id="{F4675483-2FD4-D24E-DADC-E63111D5D07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90745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D242E6-CFCB-473D-8DE4-DBEBF5C17537}"/>
              </a:ext>
            </a:extLst>
          </p:cNvPr>
          <p:cNvSpPr>
            <a:spLocks noGrp="1"/>
          </p:cNvSpPr>
          <p:nvPr>
            <p:ph type="dt" sz="half" idx="10"/>
          </p:nvPr>
        </p:nvSpPr>
        <p:spPr/>
        <p:txBody>
          <a:bodyPr/>
          <a:lstStyle>
            <a:lvl1pPr>
              <a:defRPr/>
            </a:lvl1pPr>
          </a:lstStyle>
          <a:p>
            <a:fld id="{1FC64AC5-3894-4FBB-8975-13EB1DB8DC29}" type="datetime1">
              <a:rPr lang="en-IN" smtClean="0"/>
              <a:t>03-05-2025</a:t>
            </a:fld>
            <a:endParaRPr lang="en-IN"/>
          </a:p>
        </p:txBody>
      </p:sp>
      <p:sp>
        <p:nvSpPr>
          <p:cNvPr id="5" name="Footer Placeholder 4">
            <a:extLst>
              <a:ext uri="{FF2B5EF4-FFF2-40B4-BE49-F238E27FC236}">
                <a16:creationId xmlns:a16="http://schemas.microsoft.com/office/drawing/2014/main" id="{6B3B7CD5-2550-DB8D-26F8-027AF7E19059}"/>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7D6C51F-13A2-B94E-0452-050561AA01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61797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55CF0-ABD6-66F1-67F5-836326ABE091}"/>
              </a:ext>
            </a:extLst>
          </p:cNvPr>
          <p:cNvSpPr>
            <a:spLocks noGrp="1"/>
          </p:cNvSpPr>
          <p:nvPr>
            <p:ph type="dt" sz="half" idx="10"/>
          </p:nvPr>
        </p:nvSpPr>
        <p:spPr/>
        <p:txBody>
          <a:bodyPr/>
          <a:lstStyle>
            <a:lvl1pPr>
              <a:defRPr/>
            </a:lvl1pPr>
          </a:lstStyle>
          <a:p>
            <a:fld id="{08C1E13E-385D-4576-A100-69A004E17DA6}" type="datetime1">
              <a:rPr lang="en-IN" smtClean="0"/>
              <a:t>03-05-2025</a:t>
            </a:fld>
            <a:endParaRPr lang="en-IN"/>
          </a:p>
        </p:txBody>
      </p:sp>
      <p:sp>
        <p:nvSpPr>
          <p:cNvPr id="5" name="Footer Placeholder 4">
            <a:extLst>
              <a:ext uri="{FF2B5EF4-FFF2-40B4-BE49-F238E27FC236}">
                <a16:creationId xmlns:a16="http://schemas.microsoft.com/office/drawing/2014/main" id="{B80945ED-DEA5-AD26-0679-3CCE60586D0B}"/>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362C1ED-31B6-07E2-4040-23F46BA659DE}"/>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223027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4FF1E6-C3FD-8DC1-9688-6478CAF8464C}"/>
              </a:ext>
            </a:extLst>
          </p:cNvPr>
          <p:cNvSpPr>
            <a:spLocks noGrp="1"/>
          </p:cNvSpPr>
          <p:nvPr>
            <p:ph type="dt" sz="half" idx="10"/>
          </p:nvPr>
        </p:nvSpPr>
        <p:spPr/>
        <p:txBody>
          <a:bodyPr/>
          <a:lstStyle>
            <a:lvl1pPr>
              <a:defRPr/>
            </a:lvl1pPr>
          </a:lstStyle>
          <a:p>
            <a:fld id="{B4AA223D-2542-4258-9E8D-7AA5AD35F6CD}" type="datetime1">
              <a:rPr lang="en-IN" smtClean="0"/>
              <a:t>03-05-2025</a:t>
            </a:fld>
            <a:endParaRPr lang="en-IN"/>
          </a:p>
        </p:txBody>
      </p:sp>
      <p:sp>
        <p:nvSpPr>
          <p:cNvPr id="6" name="Footer Placeholder 5">
            <a:extLst>
              <a:ext uri="{FF2B5EF4-FFF2-40B4-BE49-F238E27FC236}">
                <a16:creationId xmlns:a16="http://schemas.microsoft.com/office/drawing/2014/main" id="{0C9A91A9-C2A8-B8FC-7EDD-9663FD0B181D}"/>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CBFE2D58-A2BD-6749-279B-7D28B387D1C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41987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A1B3C8-B474-4F6E-6BB3-FA075D69C204}"/>
              </a:ext>
            </a:extLst>
          </p:cNvPr>
          <p:cNvSpPr>
            <a:spLocks noGrp="1"/>
          </p:cNvSpPr>
          <p:nvPr>
            <p:ph type="dt" sz="half" idx="10"/>
          </p:nvPr>
        </p:nvSpPr>
        <p:spPr/>
        <p:txBody>
          <a:bodyPr/>
          <a:lstStyle>
            <a:lvl1pPr>
              <a:defRPr/>
            </a:lvl1pPr>
          </a:lstStyle>
          <a:p>
            <a:fld id="{99E55CD5-F841-4E64-889C-5E5E14345BD0}" type="datetime1">
              <a:rPr lang="en-IN" smtClean="0"/>
              <a:t>03-05-2025</a:t>
            </a:fld>
            <a:endParaRPr lang="en-IN"/>
          </a:p>
        </p:txBody>
      </p:sp>
      <p:sp>
        <p:nvSpPr>
          <p:cNvPr id="8" name="Footer Placeholder 7">
            <a:extLst>
              <a:ext uri="{FF2B5EF4-FFF2-40B4-BE49-F238E27FC236}">
                <a16:creationId xmlns:a16="http://schemas.microsoft.com/office/drawing/2014/main" id="{F49A921A-9EC6-0DF2-79F5-6F853204D0A0}"/>
              </a:ext>
            </a:extLst>
          </p:cNvPr>
          <p:cNvSpPr>
            <a:spLocks noGrp="1"/>
          </p:cNvSpPr>
          <p:nvPr>
            <p:ph type="ftr" sz="quarter" idx="11"/>
          </p:nvPr>
        </p:nvSpPr>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EAC36F6D-C327-9C66-1C8D-D7352B06E70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68127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3F204F-0527-F359-E020-C43A7A1EFDB5}"/>
              </a:ext>
            </a:extLst>
          </p:cNvPr>
          <p:cNvSpPr>
            <a:spLocks noGrp="1"/>
          </p:cNvSpPr>
          <p:nvPr>
            <p:ph type="dt" sz="half" idx="10"/>
          </p:nvPr>
        </p:nvSpPr>
        <p:spPr/>
        <p:txBody>
          <a:bodyPr/>
          <a:lstStyle>
            <a:lvl1pPr>
              <a:defRPr/>
            </a:lvl1pPr>
          </a:lstStyle>
          <a:p>
            <a:fld id="{D8EDD59E-1B5D-4786-A960-698D3B3A987B}" type="datetime1">
              <a:rPr lang="en-IN" smtClean="0"/>
              <a:t>03-05-2025</a:t>
            </a:fld>
            <a:endParaRPr lang="en-IN"/>
          </a:p>
        </p:txBody>
      </p:sp>
      <p:sp>
        <p:nvSpPr>
          <p:cNvPr id="4" name="Footer Placeholder 3">
            <a:extLst>
              <a:ext uri="{FF2B5EF4-FFF2-40B4-BE49-F238E27FC236}">
                <a16:creationId xmlns:a16="http://schemas.microsoft.com/office/drawing/2014/main" id="{1D6F5C84-7D85-6B3B-4A48-36E85A4C5742}"/>
              </a:ext>
            </a:extLst>
          </p:cNvPr>
          <p:cNvSpPr>
            <a:spLocks noGrp="1"/>
          </p:cNvSpPr>
          <p:nvPr>
            <p:ph type="ftr" sz="quarter" idx="11"/>
          </p:nvPr>
        </p:nvSpPr>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E4A28A42-FE07-DE2E-EBAE-42B1BB1F7E84}"/>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627010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AF3302-8D61-C056-96BB-694507EF5CBD}"/>
              </a:ext>
            </a:extLst>
          </p:cNvPr>
          <p:cNvSpPr>
            <a:spLocks noGrp="1"/>
          </p:cNvSpPr>
          <p:nvPr>
            <p:ph type="dt" sz="half" idx="10"/>
          </p:nvPr>
        </p:nvSpPr>
        <p:spPr/>
        <p:txBody>
          <a:bodyPr/>
          <a:lstStyle>
            <a:lvl1pPr>
              <a:defRPr/>
            </a:lvl1pPr>
          </a:lstStyle>
          <a:p>
            <a:fld id="{9A72AF16-0324-4CB5-BF94-93F7E9EFF89A}" type="datetime1">
              <a:rPr lang="en-IN" smtClean="0"/>
              <a:t>03-05-2025</a:t>
            </a:fld>
            <a:endParaRPr lang="en-IN"/>
          </a:p>
        </p:txBody>
      </p:sp>
      <p:sp>
        <p:nvSpPr>
          <p:cNvPr id="3" name="Footer Placeholder 2">
            <a:extLst>
              <a:ext uri="{FF2B5EF4-FFF2-40B4-BE49-F238E27FC236}">
                <a16:creationId xmlns:a16="http://schemas.microsoft.com/office/drawing/2014/main" id="{D8943D02-CCC0-D13A-998C-CB44054C0B95}"/>
              </a:ext>
            </a:extLst>
          </p:cNvPr>
          <p:cNvSpPr>
            <a:spLocks noGrp="1"/>
          </p:cNvSpPr>
          <p:nvPr>
            <p:ph type="ftr" sz="quarter" idx="11"/>
          </p:nvPr>
        </p:nvSpPr>
        <p:spPr/>
        <p:txBody>
          <a:bodyPr/>
          <a:lstStyle>
            <a:lvl1pPr>
              <a:defRPr/>
            </a:lvl1pPr>
          </a:lstStyle>
          <a:p>
            <a:endParaRPr lang="en-IN"/>
          </a:p>
        </p:txBody>
      </p:sp>
      <p:sp>
        <p:nvSpPr>
          <p:cNvPr id="4" name="Slide Number Placeholder 3">
            <a:extLst>
              <a:ext uri="{FF2B5EF4-FFF2-40B4-BE49-F238E27FC236}">
                <a16:creationId xmlns:a16="http://schemas.microsoft.com/office/drawing/2014/main" id="{237098C0-B884-165A-2694-973A56D86BA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12527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5"/>
            <a:ext cx="3932237" cy="1069974"/>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1A566-EA49-2977-8317-6FB23668A89C}"/>
              </a:ext>
            </a:extLst>
          </p:cNvPr>
          <p:cNvSpPr>
            <a:spLocks noGrp="1"/>
          </p:cNvSpPr>
          <p:nvPr>
            <p:ph type="dt" sz="half" idx="10"/>
          </p:nvPr>
        </p:nvSpPr>
        <p:spPr/>
        <p:txBody>
          <a:bodyPr/>
          <a:lstStyle>
            <a:lvl1pPr>
              <a:defRPr/>
            </a:lvl1pPr>
          </a:lstStyle>
          <a:p>
            <a:fld id="{CB57C84E-F0B9-4ADC-986F-1DB115FD93B9}" type="datetime1">
              <a:rPr lang="en-IN" smtClean="0"/>
              <a:t>03-05-2025</a:t>
            </a:fld>
            <a:endParaRPr lang="en-IN"/>
          </a:p>
        </p:txBody>
      </p:sp>
      <p:sp>
        <p:nvSpPr>
          <p:cNvPr id="6" name="Footer Placeholder 5">
            <a:extLst>
              <a:ext uri="{FF2B5EF4-FFF2-40B4-BE49-F238E27FC236}">
                <a16:creationId xmlns:a16="http://schemas.microsoft.com/office/drawing/2014/main" id="{527BDFB9-862F-16D1-7A43-6B67A6BA9F6B}"/>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8D3EEF3A-C8B2-956C-D15D-86434F200ED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337326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6"/>
            <a:ext cx="3932237" cy="1069975"/>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BCC3F-66AE-D685-917C-BCE23EBFE6CD}"/>
              </a:ext>
            </a:extLst>
          </p:cNvPr>
          <p:cNvSpPr>
            <a:spLocks noGrp="1"/>
          </p:cNvSpPr>
          <p:nvPr>
            <p:ph type="dt" sz="half" idx="10"/>
          </p:nvPr>
        </p:nvSpPr>
        <p:spPr/>
        <p:txBody>
          <a:bodyPr/>
          <a:lstStyle>
            <a:lvl1pPr>
              <a:defRPr/>
            </a:lvl1pPr>
          </a:lstStyle>
          <a:p>
            <a:fld id="{EF7FFE89-EA5A-4C24-95E7-6963E505006B}" type="datetime1">
              <a:rPr lang="en-IN" smtClean="0"/>
              <a:t>03-05-2025</a:t>
            </a:fld>
            <a:endParaRPr lang="en-IN"/>
          </a:p>
        </p:txBody>
      </p:sp>
      <p:sp>
        <p:nvSpPr>
          <p:cNvPr id="6" name="Footer Placeholder 5">
            <a:extLst>
              <a:ext uri="{FF2B5EF4-FFF2-40B4-BE49-F238E27FC236}">
                <a16:creationId xmlns:a16="http://schemas.microsoft.com/office/drawing/2014/main" id="{3EF1C573-3CAA-6017-0BFA-B1CAB9048170}"/>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1F416E67-65BF-8531-9B7F-D0AB1116C88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0415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287074-245E-87F5-DFC8-F77FA4B66C09}"/>
              </a:ext>
            </a:extLst>
          </p:cNvPr>
          <p:cNvSpPr>
            <a:spLocks noGrp="1"/>
          </p:cNvSpPr>
          <p:nvPr>
            <p:ph type="dt" sz="half" idx="10"/>
          </p:nvPr>
        </p:nvSpPr>
        <p:spPr/>
        <p:txBody>
          <a:bodyPr/>
          <a:lstStyle>
            <a:lvl1pPr>
              <a:defRPr/>
            </a:lvl1pPr>
          </a:lstStyle>
          <a:p>
            <a:fld id="{107C52A0-4C51-420B-BF57-FAF0CD0E6621}" type="datetime1">
              <a:rPr lang="en-IN" smtClean="0"/>
              <a:t>03-05-2025</a:t>
            </a:fld>
            <a:endParaRPr lang="en-IN"/>
          </a:p>
        </p:txBody>
      </p:sp>
      <p:sp>
        <p:nvSpPr>
          <p:cNvPr id="5" name="Footer Placeholder 4">
            <a:extLst>
              <a:ext uri="{FF2B5EF4-FFF2-40B4-BE49-F238E27FC236}">
                <a16:creationId xmlns:a16="http://schemas.microsoft.com/office/drawing/2014/main" id="{21267015-6888-E53F-F21D-DC01C60BBFC1}"/>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211566B7-60AE-81B8-5DE4-D6BFD289C8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501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34291"/>
            <a:ext cx="2628900" cy="5442672"/>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734291"/>
            <a:ext cx="7734300" cy="544267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CEEC42-DA93-168A-2B53-EF25A3731A49}"/>
              </a:ext>
            </a:extLst>
          </p:cNvPr>
          <p:cNvSpPr>
            <a:spLocks noGrp="1"/>
          </p:cNvSpPr>
          <p:nvPr>
            <p:ph type="dt" sz="half" idx="10"/>
          </p:nvPr>
        </p:nvSpPr>
        <p:spPr/>
        <p:txBody>
          <a:bodyPr/>
          <a:lstStyle>
            <a:lvl1pPr>
              <a:defRPr/>
            </a:lvl1pPr>
          </a:lstStyle>
          <a:p>
            <a:fld id="{4F72F860-3138-4D6D-8E16-7172FEACE899}" type="datetime1">
              <a:rPr lang="en-IN" smtClean="0"/>
              <a:t>03-05-2025</a:t>
            </a:fld>
            <a:endParaRPr lang="en-IN"/>
          </a:p>
        </p:txBody>
      </p:sp>
      <p:sp>
        <p:nvSpPr>
          <p:cNvPr id="5" name="Footer Placeholder 4">
            <a:extLst>
              <a:ext uri="{FF2B5EF4-FFF2-40B4-BE49-F238E27FC236}">
                <a16:creationId xmlns:a16="http://schemas.microsoft.com/office/drawing/2014/main" id="{7ACAB2B8-EC58-8D37-46A2-4312FBD9C99D}"/>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490C8FE-9ACC-AEDE-88A1-C2C2CA5C850D}"/>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77860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8792EE-EA1B-511C-9257-0EAF452244CA}"/>
              </a:ext>
            </a:extLst>
          </p:cNvPr>
          <p:cNvSpPr>
            <a:spLocks noGrp="1" noChangeArrowheads="1"/>
          </p:cNvSpPr>
          <p:nvPr>
            <p:ph type="title"/>
          </p:nvPr>
        </p:nvSpPr>
        <p:spPr bwMode="auto">
          <a:xfrm>
            <a:off x="838200" y="812800"/>
            <a:ext cx="105156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C697C5F7-0279-4B15-1CB7-D1A483C70813}"/>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85CCFADE-5B20-75C0-424F-0F2AFB6DF464}"/>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latin typeface="Times New Roman" panose="02020603050405020304" pitchFamily="18" charset="0"/>
              </a:defRPr>
            </a:lvl1pPr>
          </a:lstStyle>
          <a:p>
            <a:fld id="{E0F2942C-538E-49F4-BC5F-AB443059ECD1}" type="datetime1">
              <a:rPr lang="en-IN" smtClean="0"/>
              <a:t>03-05-2025</a:t>
            </a:fld>
            <a:endParaRPr lang="en-IN"/>
          </a:p>
        </p:txBody>
      </p:sp>
      <p:sp>
        <p:nvSpPr>
          <p:cNvPr id="5" name="Footer Placeholder 4">
            <a:extLst>
              <a:ext uri="{FF2B5EF4-FFF2-40B4-BE49-F238E27FC236}">
                <a16:creationId xmlns:a16="http://schemas.microsoft.com/office/drawing/2014/main" id="{3BDAFD65-0BAE-358D-C0AE-A5DD4E019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endParaRPr lang="en-IN"/>
          </a:p>
        </p:txBody>
      </p:sp>
      <p:sp>
        <p:nvSpPr>
          <p:cNvPr id="6" name="Slide Number Placeholder 5">
            <a:extLst>
              <a:ext uri="{FF2B5EF4-FFF2-40B4-BE49-F238E27FC236}">
                <a16:creationId xmlns:a16="http://schemas.microsoft.com/office/drawing/2014/main" id="{E9BA6229-5562-F65D-A0BA-E4ABF542A43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095B67F8-3864-425A-A4D9-E2BC08C4F04D}" type="slidenum">
              <a:rPr lang="en-IN" smtClean="0"/>
              <a:t>‹#›</a:t>
            </a:fld>
            <a:endParaRPr lang="en-IN"/>
          </a:p>
        </p:txBody>
      </p:sp>
      <p:pic>
        <p:nvPicPr>
          <p:cNvPr id="1031" name="Picture 6">
            <a:extLst>
              <a:ext uri="{FF2B5EF4-FFF2-40B4-BE49-F238E27FC236}">
                <a16:creationId xmlns:a16="http://schemas.microsoft.com/office/drawing/2014/main" id="{AF28A348-F62E-1D25-462F-F2D80714B58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413" y="136525"/>
            <a:ext cx="180022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7">
            <a:extLst>
              <a:ext uri="{FF2B5EF4-FFF2-40B4-BE49-F238E27FC236}">
                <a16:creationId xmlns:a16="http://schemas.microsoft.com/office/drawing/2014/main" id="{2185E301-5D10-BC61-9226-34AFFC72B1A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8813" t="24036" r="8813" b="24036"/>
          <a:stretch>
            <a:fillRect/>
          </a:stretch>
        </p:blipFill>
        <p:spPr bwMode="auto">
          <a:xfrm>
            <a:off x="10541000" y="44450"/>
            <a:ext cx="16256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139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fontAlgn="base" hangingPunct="1">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5DB5A7F-D498-1C36-5D2B-EB9D5D943F89}"/>
              </a:ext>
            </a:extLst>
          </p:cNvPr>
          <p:cNvSpPr txBox="1">
            <a:spLocks/>
          </p:cNvSpPr>
          <p:nvPr/>
        </p:nvSpPr>
        <p:spPr bwMode="auto">
          <a:xfrm>
            <a:off x="1879042" y="391232"/>
            <a:ext cx="8651631" cy="1528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a:lstStyle>
          <a:p>
            <a:pPr algn="ctr"/>
            <a:r>
              <a:rPr lang="en-US" sz="3100" dirty="0"/>
              <a:t>Comparative Analysis of an Ensemble of Multi-View Deep Learning Models for Future Price Prediction of Pre-Owned Cars </a:t>
            </a:r>
          </a:p>
        </p:txBody>
      </p:sp>
      <p:sp>
        <p:nvSpPr>
          <p:cNvPr id="8" name="Subtitle 2">
            <a:extLst>
              <a:ext uri="{FF2B5EF4-FFF2-40B4-BE49-F238E27FC236}">
                <a16:creationId xmlns:a16="http://schemas.microsoft.com/office/drawing/2014/main" id="{63F242B4-ABBE-5A59-6061-6EBEA0793467}"/>
              </a:ext>
            </a:extLst>
          </p:cNvPr>
          <p:cNvSpPr>
            <a:spLocks noGrp="1"/>
          </p:cNvSpPr>
          <p:nvPr>
            <p:ph type="subTitle" idx="1"/>
          </p:nvPr>
        </p:nvSpPr>
        <p:spPr>
          <a:xfrm>
            <a:off x="264303" y="4355168"/>
            <a:ext cx="6119733" cy="2143592"/>
          </a:xfrm>
        </p:spPr>
        <p:txBody>
          <a:bodyPr>
            <a:normAutofit/>
          </a:bodyPr>
          <a:lstStyle/>
          <a:p>
            <a:pPr algn="l"/>
            <a:r>
              <a:rPr lang="en-US" b="1" dirty="0">
                <a:latin typeface="Apple Braille" pitchFamily="2" charset="0"/>
              </a:rPr>
              <a:t>Student Name:  </a:t>
            </a:r>
            <a:r>
              <a:rPr lang="en-US" dirty="0">
                <a:latin typeface="Apple Braille" pitchFamily="2" charset="0"/>
              </a:rPr>
              <a:t>Bethu Manohar</a:t>
            </a:r>
          </a:p>
          <a:p>
            <a:pPr algn="l"/>
            <a:r>
              <a:rPr lang="en-US" b="1" dirty="0">
                <a:latin typeface="Apple Braille" pitchFamily="2" charset="0"/>
              </a:rPr>
              <a:t>Regd. NO: </a:t>
            </a:r>
            <a:r>
              <a:rPr lang="en-US" dirty="0">
                <a:latin typeface="Apple Braille" pitchFamily="2" charset="0"/>
              </a:rPr>
              <a:t>12100789,  </a:t>
            </a:r>
            <a:r>
              <a:rPr lang="en-US" b="1" dirty="0">
                <a:latin typeface="Apple Braille" pitchFamily="2" charset="0"/>
              </a:rPr>
              <a:t>ROLL No: R</a:t>
            </a:r>
            <a:r>
              <a:rPr lang="en-US" dirty="0">
                <a:latin typeface="Apple Braille" pitchFamily="2" charset="0"/>
              </a:rPr>
              <a:t>K21UTA01</a:t>
            </a:r>
          </a:p>
          <a:p>
            <a:pPr algn="l"/>
            <a:r>
              <a:rPr lang="en-US" b="1" dirty="0">
                <a:latin typeface="Apple Braille" pitchFamily="2" charset="0"/>
              </a:rPr>
              <a:t>Course Code :  </a:t>
            </a:r>
            <a:r>
              <a:rPr lang="en-US" dirty="0">
                <a:latin typeface="Apple Braille" pitchFamily="2" charset="0"/>
              </a:rPr>
              <a:t>CSE461</a:t>
            </a:r>
            <a:endParaRPr lang="en-IN" dirty="0">
              <a:latin typeface="Apple Braille" pitchFamily="2" charset="0"/>
            </a:endParaRPr>
          </a:p>
          <a:p>
            <a:pPr algn="l"/>
            <a:r>
              <a:rPr lang="en-US" b="1" dirty="0">
                <a:latin typeface="Apple Braille" pitchFamily="2" charset="0"/>
              </a:rPr>
              <a:t>Current mobile:  </a:t>
            </a:r>
            <a:r>
              <a:rPr lang="en-US" dirty="0">
                <a:latin typeface="Apple Braille" pitchFamily="2" charset="0"/>
              </a:rPr>
              <a:t>+91 7222823999</a:t>
            </a:r>
            <a:endParaRPr lang="en-IN" dirty="0">
              <a:latin typeface="Apple Braille" pitchFamily="2" charset="0"/>
            </a:endParaRPr>
          </a:p>
          <a:p>
            <a:pPr algn="l"/>
            <a:r>
              <a:rPr lang="en-US" b="1" dirty="0">
                <a:latin typeface="Apple Braille" pitchFamily="2" charset="0"/>
              </a:rPr>
              <a:t>Email: bethu.12100789</a:t>
            </a:r>
            <a:r>
              <a:rPr lang="en-US" dirty="0">
                <a:latin typeface="Apple Braille" pitchFamily="2" charset="0"/>
              </a:rPr>
              <a:t>@lpu.in</a:t>
            </a:r>
            <a:endParaRPr lang="en-IN" dirty="0">
              <a:latin typeface="Apple Braille" pitchFamily="2" charset="0"/>
            </a:endParaRPr>
          </a:p>
          <a:p>
            <a:pPr algn="l"/>
            <a:endParaRPr lang="en-IN" dirty="0">
              <a:latin typeface="Apple Braille" pitchFamily="2" charset="0"/>
            </a:endParaRPr>
          </a:p>
          <a:p>
            <a:endParaRPr lang="en-US" dirty="0"/>
          </a:p>
        </p:txBody>
      </p:sp>
      <p:sp>
        <p:nvSpPr>
          <p:cNvPr id="9" name="Subtitle 2">
            <a:extLst>
              <a:ext uri="{FF2B5EF4-FFF2-40B4-BE49-F238E27FC236}">
                <a16:creationId xmlns:a16="http://schemas.microsoft.com/office/drawing/2014/main" id="{41659EFB-C276-9685-8BB3-1C304A3FF6B3}"/>
              </a:ext>
            </a:extLst>
          </p:cNvPr>
          <p:cNvSpPr txBox="1">
            <a:spLocks/>
          </p:cNvSpPr>
          <p:nvPr/>
        </p:nvSpPr>
        <p:spPr>
          <a:xfrm>
            <a:off x="7370937" y="4519828"/>
            <a:ext cx="4556760" cy="20190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700" b="1" dirty="0">
                <a:latin typeface="Apple Braille" pitchFamily="2" charset="0"/>
              </a:rPr>
              <a:t>Submitted To:  Mr. Himanshu</a:t>
            </a:r>
            <a:endParaRPr lang="en-IN" sz="1700" dirty="0">
              <a:latin typeface="Apple Braille" pitchFamily="2" charset="0"/>
            </a:endParaRPr>
          </a:p>
          <a:p>
            <a:pPr algn="l"/>
            <a:r>
              <a:rPr lang="en-US" sz="1700" b="1" dirty="0">
                <a:latin typeface="Apple Braille" pitchFamily="2" charset="0"/>
              </a:rPr>
              <a:t>Dept: CSE Data Science </a:t>
            </a:r>
            <a:r>
              <a:rPr lang="en-US" sz="1700" b="1" dirty="0" err="1">
                <a:latin typeface="Apple Braille" pitchFamily="2" charset="0"/>
              </a:rPr>
              <a:t>Upgrad</a:t>
            </a:r>
            <a:endParaRPr lang="en-IN" sz="1700" dirty="0">
              <a:latin typeface="Apple Braille" pitchFamily="2" charset="0"/>
            </a:endParaRPr>
          </a:p>
          <a:p>
            <a:pPr algn="l"/>
            <a:r>
              <a:rPr lang="en-US" sz="1700" b="1" dirty="0">
                <a:latin typeface="Apple Braille" pitchFamily="2" charset="0"/>
              </a:rPr>
              <a:t>University:  </a:t>
            </a:r>
            <a:r>
              <a:rPr lang="en-US" sz="1700" dirty="0">
                <a:latin typeface="Apple Braille" pitchFamily="2" charset="0"/>
              </a:rPr>
              <a:t>Lovely  Professional University Jalandhar Punjab India </a:t>
            </a:r>
            <a:endParaRPr lang="en-IN" sz="1700" dirty="0">
              <a:latin typeface="Apple Braille" pitchFamily="2" charset="0"/>
            </a:endParaRPr>
          </a:p>
          <a:p>
            <a:endParaRPr lang="en-US" dirty="0"/>
          </a:p>
        </p:txBody>
      </p:sp>
      <p:pic>
        <p:nvPicPr>
          <p:cNvPr id="10" name="Picture 4">
            <a:extLst>
              <a:ext uri="{FF2B5EF4-FFF2-40B4-BE49-F238E27FC236}">
                <a16:creationId xmlns:a16="http://schemas.microsoft.com/office/drawing/2014/main" id="{82C6722F-19A2-AA11-94EF-15D9F8334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747" y="1788831"/>
            <a:ext cx="2825496" cy="2383774"/>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5">
            <a:extLst>
              <a:ext uri="{FF2B5EF4-FFF2-40B4-BE49-F238E27FC236}">
                <a16:creationId xmlns:a16="http://schemas.microsoft.com/office/drawing/2014/main" id="{479B8CAE-41A1-A49E-4E48-ADDEF9E93F31}"/>
              </a:ext>
            </a:extLst>
          </p:cNvPr>
          <p:cNvSpPr>
            <a:spLocks noGrp="1"/>
          </p:cNvSpPr>
          <p:nvPr>
            <p:ph type="sldNum" sz="quarter" idx="12"/>
          </p:nvPr>
        </p:nvSpPr>
        <p:spPr>
          <a:xfrm>
            <a:off x="8610600" y="6356350"/>
            <a:ext cx="2743200" cy="365125"/>
          </a:xfrm>
        </p:spPr>
        <p:txBody>
          <a:bodyPr/>
          <a:lstStyle/>
          <a:p>
            <a:fld id="{1CC10BE2-3C26-5745-BCC0-8E079BF8AF08}" type="slidenum">
              <a:rPr lang="en-US" smtClean="0"/>
              <a:t>1</a:t>
            </a:fld>
            <a:endParaRPr lang="en-US"/>
          </a:p>
        </p:txBody>
      </p:sp>
      <p:pic>
        <p:nvPicPr>
          <p:cNvPr id="1028" name="Picture 4" descr="Upgrad | Radeontech">
            <a:extLst>
              <a:ext uri="{FF2B5EF4-FFF2-40B4-BE49-F238E27FC236}">
                <a16:creationId xmlns:a16="http://schemas.microsoft.com/office/drawing/2014/main" id="{5BAB64BA-9EF4-2ED9-A323-9D2D42066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03" y="804284"/>
            <a:ext cx="1781012" cy="1509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D7F3CC-8AAC-A679-CD7A-8614753FC07E}"/>
              </a:ext>
            </a:extLst>
          </p:cNvPr>
          <p:cNvSpPr>
            <a:spLocks noGrp="1"/>
          </p:cNvSpPr>
          <p:nvPr>
            <p:ph type="title"/>
          </p:nvPr>
        </p:nvSpPr>
        <p:spPr>
          <a:xfrm>
            <a:off x="225641" y="661108"/>
            <a:ext cx="10515600" cy="1325563"/>
          </a:xfrm>
        </p:spPr>
        <p:txBody>
          <a:bodyPr/>
          <a:lstStyle/>
          <a:p>
            <a:pPr algn="ctr"/>
            <a:r>
              <a:rPr lang="en-US" u="sng" dirty="0"/>
              <a:t>Content of Presentation</a:t>
            </a:r>
          </a:p>
        </p:txBody>
      </p:sp>
      <p:sp>
        <p:nvSpPr>
          <p:cNvPr id="5" name="Content Placeholder 2">
            <a:extLst>
              <a:ext uri="{FF2B5EF4-FFF2-40B4-BE49-F238E27FC236}">
                <a16:creationId xmlns:a16="http://schemas.microsoft.com/office/drawing/2014/main" id="{DD162E08-F234-3249-D895-79831B2B1B59}"/>
              </a:ext>
            </a:extLst>
          </p:cNvPr>
          <p:cNvSpPr>
            <a:spLocks noGrp="1"/>
          </p:cNvSpPr>
          <p:nvPr>
            <p:ph idx="1"/>
          </p:nvPr>
        </p:nvSpPr>
        <p:spPr>
          <a:xfrm>
            <a:off x="1170499" y="1986671"/>
            <a:ext cx="11599416" cy="4351338"/>
          </a:xfrm>
        </p:spPr>
        <p:txBody>
          <a:bodyPr/>
          <a:lstStyle/>
          <a:p>
            <a:r>
              <a:rPr lang="en-US" dirty="0">
                <a:latin typeface="+mj-lt"/>
              </a:rPr>
              <a:t>Introduction </a:t>
            </a:r>
          </a:p>
          <a:p>
            <a:r>
              <a:rPr lang="en-US">
                <a:latin typeface="+mj-lt"/>
              </a:rPr>
              <a:t>Aim</a:t>
            </a:r>
          </a:p>
          <a:p>
            <a:r>
              <a:rPr lang="en-US">
                <a:latin typeface="+mj-lt"/>
              </a:rPr>
              <a:t>Literature Review </a:t>
            </a:r>
          </a:p>
          <a:p>
            <a:r>
              <a:rPr lang="en-US">
                <a:latin typeface="+mj-lt"/>
              </a:rPr>
              <a:t>Research Gap</a:t>
            </a:r>
          </a:p>
          <a:p>
            <a:r>
              <a:rPr lang="en-US">
                <a:latin typeface="+mj-lt"/>
              </a:rPr>
              <a:t>Objective </a:t>
            </a:r>
          </a:p>
          <a:p>
            <a:r>
              <a:rPr lang="en-US">
                <a:latin typeface="+mj-lt"/>
              </a:rPr>
              <a:t>Project timeline </a:t>
            </a:r>
          </a:p>
          <a:p>
            <a:r>
              <a:rPr lang="en-US">
                <a:latin typeface="+mj-lt"/>
              </a:rPr>
              <a:t>Research Methodology</a:t>
            </a:r>
          </a:p>
          <a:p>
            <a:r>
              <a:rPr lang="en-US">
                <a:latin typeface="+mj-lt"/>
              </a:rPr>
              <a:t>Implementation </a:t>
            </a:r>
          </a:p>
          <a:p>
            <a:r>
              <a:rPr lang="en-US">
                <a:latin typeface="+mj-lt"/>
              </a:rPr>
              <a:t>Results </a:t>
            </a:r>
          </a:p>
          <a:p>
            <a:r>
              <a:rPr lang="en-US">
                <a:latin typeface="+mj-lt"/>
              </a:rPr>
              <a:t>Limitations </a:t>
            </a:r>
          </a:p>
          <a:p>
            <a:r>
              <a:rPr lang="en-US">
                <a:latin typeface="+mj-lt"/>
              </a:rPr>
              <a:t>Conclusion</a:t>
            </a:r>
            <a:endParaRPr lang="en-US" dirty="0">
              <a:latin typeface="+mj-lt"/>
            </a:endParaRPr>
          </a:p>
        </p:txBody>
      </p:sp>
      <p:sp>
        <p:nvSpPr>
          <p:cNvPr id="6" name="Slide Number Placeholder 3">
            <a:extLst>
              <a:ext uri="{FF2B5EF4-FFF2-40B4-BE49-F238E27FC236}">
                <a16:creationId xmlns:a16="http://schemas.microsoft.com/office/drawing/2014/main" id="{49A1324F-DB87-5C48-88DE-7CCA414825A6}"/>
              </a:ext>
            </a:extLst>
          </p:cNvPr>
          <p:cNvSpPr>
            <a:spLocks noGrp="1"/>
          </p:cNvSpPr>
          <p:nvPr>
            <p:ph type="sldNum" sz="quarter" idx="12"/>
          </p:nvPr>
        </p:nvSpPr>
        <p:spPr>
          <a:xfrm>
            <a:off x="8610600" y="6865397"/>
            <a:ext cx="2743200" cy="365125"/>
          </a:xfrm>
        </p:spPr>
        <p:txBody>
          <a:bodyPr/>
          <a:lstStyle/>
          <a:p>
            <a:fld id="{1CC10BE2-3C26-5745-BCC0-8E079BF8AF08}" type="slidenum">
              <a:rPr lang="en-US" smtClean="0"/>
              <a:t>2</a:t>
            </a:fld>
            <a:endParaRPr lang="en-US"/>
          </a:p>
        </p:txBody>
      </p:sp>
    </p:spTree>
    <p:extLst>
      <p:ext uri="{BB962C8B-B14F-4D97-AF65-F5344CB8AC3E}">
        <p14:creationId xmlns:p14="http://schemas.microsoft.com/office/powerpoint/2010/main" val="2211438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DF9A-AE66-8F01-7756-E0483332C6C7}"/>
              </a:ext>
            </a:extLst>
          </p:cNvPr>
          <p:cNvSpPr>
            <a:spLocks noGrp="1"/>
          </p:cNvSpPr>
          <p:nvPr>
            <p:ph type="title"/>
          </p:nvPr>
        </p:nvSpPr>
        <p:spPr/>
        <p:txBody>
          <a:bodyPr/>
          <a:lstStyle/>
          <a:p>
            <a:pPr algn="ctr"/>
            <a:r>
              <a:rPr lang="en-US" u="sng"/>
              <a:t>Introduction</a:t>
            </a:r>
            <a:endParaRPr lang="en-US" u="sng" dirty="0"/>
          </a:p>
        </p:txBody>
      </p:sp>
      <p:sp>
        <p:nvSpPr>
          <p:cNvPr id="4" name="Content Placeholder 2">
            <a:extLst>
              <a:ext uri="{FF2B5EF4-FFF2-40B4-BE49-F238E27FC236}">
                <a16:creationId xmlns:a16="http://schemas.microsoft.com/office/drawing/2014/main" id="{A7BB99FD-62B3-6C72-172F-A2BB33338082}"/>
              </a:ext>
            </a:extLst>
          </p:cNvPr>
          <p:cNvSpPr>
            <a:spLocks noGrp="1" noChangeArrowheads="1"/>
          </p:cNvSpPr>
          <p:nvPr>
            <p:ph idx="1"/>
          </p:nvPr>
        </p:nvSpPr>
        <p:spPr>
          <a:xfrm>
            <a:off x="757813" y="2243399"/>
            <a:ext cx="10515600" cy="3524355"/>
          </a:xfrm>
        </p:spPr>
        <p:txBody>
          <a:bodyPr/>
          <a:lstStyle/>
          <a:p>
            <a:pPr algn="just">
              <a:defRPr/>
            </a:pPr>
            <a:endParaRPr lang="en-US" sz="2000" dirty="0"/>
          </a:p>
          <a:p>
            <a:pPr marL="0" indent="0" algn="just" eaLnBrk="1" hangingPunct="1">
              <a:buNone/>
              <a:defRPr/>
            </a:pPr>
            <a:endParaRPr lang="en-US" altLang="en-US" sz="2200" dirty="0">
              <a:latin typeface="+mj-lt"/>
              <a:cs typeface="Times New Roman" panose="02020603050405020304" pitchFamily="18" charset="0"/>
            </a:endParaRPr>
          </a:p>
        </p:txBody>
      </p:sp>
      <p:sp>
        <p:nvSpPr>
          <p:cNvPr id="8" name="Slide Number Placeholder 7">
            <a:extLst>
              <a:ext uri="{FF2B5EF4-FFF2-40B4-BE49-F238E27FC236}">
                <a16:creationId xmlns:a16="http://schemas.microsoft.com/office/drawing/2014/main" id="{77B45AD2-5653-F028-F37A-9055B02FE7B8}"/>
              </a:ext>
            </a:extLst>
          </p:cNvPr>
          <p:cNvSpPr>
            <a:spLocks noGrp="1"/>
          </p:cNvSpPr>
          <p:nvPr>
            <p:ph type="sldNum" sz="quarter" idx="12"/>
          </p:nvPr>
        </p:nvSpPr>
        <p:spPr/>
        <p:txBody>
          <a:bodyPr/>
          <a:lstStyle/>
          <a:p>
            <a:fld id="{095B67F8-3864-425A-A4D9-E2BC08C4F04D}" type="slidenum">
              <a:rPr lang="en-IN" smtClean="0"/>
              <a:t>3</a:t>
            </a:fld>
            <a:endParaRPr lang="en-IN"/>
          </a:p>
        </p:txBody>
      </p:sp>
      <p:sp>
        <p:nvSpPr>
          <p:cNvPr id="5" name="TextBox 4">
            <a:extLst>
              <a:ext uri="{FF2B5EF4-FFF2-40B4-BE49-F238E27FC236}">
                <a16:creationId xmlns:a16="http://schemas.microsoft.com/office/drawing/2014/main" id="{BAFD86F0-0901-0CC3-A2C7-795DBEB692F4}"/>
              </a:ext>
            </a:extLst>
          </p:cNvPr>
          <p:cNvSpPr txBox="1"/>
          <p:nvPr/>
        </p:nvSpPr>
        <p:spPr>
          <a:xfrm>
            <a:off x="949036" y="1870364"/>
            <a:ext cx="11118273" cy="4016484"/>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0" i="0" u="none" strike="noStrike" cap="none" normalizeH="0" baseline="0" dirty="0">
                <a:ln>
                  <a:noFill/>
                </a:ln>
                <a:solidFill>
                  <a:schemeClr val="tx1"/>
                </a:solidFill>
                <a:effectLst/>
                <a:latin typeface="+mj-lt"/>
              </a:rPr>
              <a:t>The demand for personal vehicles is rising, but new cars are becoming unaffordable for many people. This has led to growth in the used car market, especially in countries like India. However, the used car market is largely unorganized, leading to inconsistent pricing and potential fraud.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100" b="0" i="0" u="none" strike="noStrike" cap="none" normalizeH="0" baseline="0" dirty="0">
                <a:ln>
                  <a:noFill/>
                </a:ln>
                <a:solidFill>
                  <a:schemeClr val="tx1"/>
                </a:solidFill>
                <a:effectLst/>
                <a:latin typeface="+mj-lt"/>
              </a:rPr>
              <a:t>Traditional methods for estimating used car prices are often inaccurate and subjective. Accurate and fair price prediction is essential for buyers, sellers, and intermediaries.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100" dirty="0">
                <a:latin typeface="+mj-lt"/>
              </a:rPr>
              <a:t>Machine learning and deep learning techniques offer the ability to model complex, non-linear relationships in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100" dirty="0">
                <a:latin typeface="+mj-lt"/>
              </a:rPr>
              <a:t>This project aims to build a robust, data-driven system for predicting used car prices using a hybrid of machine learning and deep learning techniques.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100" dirty="0">
                <a:latin typeface="+mj-lt"/>
              </a:rPr>
              <a:t>Deploying this system as a web application ensures accessibility, allowing users to get real-time price predictions based on car features.</a:t>
            </a:r>
            <a:endParaRPr kumimoji="0" lang="en-US" altLang="en-US" sz="21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6787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8009E-C610-D2AC-4B1E-A7BC82539CF7}"/>
              </a:ext>
            </a:extLst>
          </p:cNvPr>
          <p:cNvSpPr>
            <a:spLocks noGrp="1"/>
          </p:cNvSpPr>
          <p:nvPr>
            <p:ph type="title"/>
          </p:nvPr>
        </p:nvSpPr>
        <p:spPr/>
        <p:txBody>
          <a:bodyPr/>
          <a:lstStyle/>
          <a:p>
            <a:pPr algn="ctr"/>
            <a:r>
              <a:rPr lang="en-US" u="sng" dirty="0"/>
              <a:t>AIM</a:t>
            </a:r>
          </a:p>
        </p:txBody>
      </p:sp>
      <p:sp>
        <p:nvSpPr>
          <p:cNvPr id="3" name="Content Placeholder 2">
            <a:extLst>
              <a:ext uri="{FF2B5EF4-FFF2-40B4-BE49-F238E27FC236}">
                <a16:creationId xmlns:a16="http://schemas.microsoft.com/office/drawing/2014/main" id="{E790AEED-76BD-3C95-377E-7D67BC32BB79}"/>
              </a:ext>
            </a:extLst>
          </p:cNvPr>
          <p:cNvSpPr>
            <a:spLocks noGrp="1"/>
          </p:cNvSpPr>
          <p:nvPr>
            <p:ph idx="1"/>
          </p:nvPr>
        </p:nvSpPr>
        <p:spPr/>
        <p:txBody>
          <a:bodyPr/>
          <a:lstStyle/>
          <a:p>
            <a:pPr algn="just">
              <a:buNone/>
            </a:pPr>
            <a:r>
              <a:rPr lang="en-US" dirty="0"/>
              <a:t>The primary aim of the project is to develop a hybrid system that accurately predicts the resale prices of pre-owned cars, enabling fair transactions in the used vehicle market. The system combines machine learning and deep learning techniques and is accessible through a web application. The project focuses on the following key functionalities:</a:t>
            </a:r>
          </a:p>
          <a:p>
            <a:pPr lvl="1"/>
            <a:r>
              <a:rPr lang="en-US" sz="2100" b="1" dirty="0"/>
              <a:t>Feature Extraction using Deep Learning</a:t>
            </a:r>
            <a:r>
              <a:rPr lang="en-US" sz="2100" dirty="0"/>
              <a:t>: To capture complex patterns in the data using CNN, RNN, and LSTM architectures.</a:t>
            </a:r>
          </a:p>
          <a:p>
            <a:pPr lvl="1"/>
            <a:r>
              <a:rPr lang="en-US" sz="2100" b="1" dirty="0"/>
              <a:t>Hybrid Prediction using Random Forest</a:t>
            </a:r>
            <a:r>
              <a:rPr lang="en-US" sz="2100" dirty="0"/>
              <a:t>: To improve accuracy by combining extracted deep features with tree-based regression.</a:t>
            </a:r>
          </a:p>
          <a:p>
            <a:pPr lvl="1"/>
            <a:r>
              <a:rPr lang="en-US" sz="2100" b="1" dirty="0"/>
              <a:t>Real-time Web Application</a:t>
            </a:r>
            <a:r>
              <a:rPr lang="en-US" sz="2100" dirty="0"/>
              <a:t>: To allow users to input vehicle attributes (e.g., brand, year, engine, mileage) and receive instant price predictions via a user-friendly Flask interface.</a:t>
            </a:r>
          </a:p>
          <a:p>
            <a:pPr marL="0" indent="0">
              <a:buNone/>
            </a:pPr>
            <a:r>
              <a:rPr lang="en-US" dirty="0"/>
              <a:t>With these, the system provides a reliable and scalable solution for buyers, sellers, and dealerships to make data-driven decisions in the used car market.</a:t>
            </a:r>
          </a:p>
          <a:p>
            <a:pPr marL="0" indent="0">
              <a:buNone/>
            </a:pPr>
            <a:endParaRPr lang="en-IN" dirty="0"/>
          </a:p>
        </p:txBody>
      </p:sp>
      <p:sp>
        <p:nvSpPr>
          <p:cNvPr id="7" name="Slide Number Placeholder 6">
            <a:extLst>
              <a:ext uri="{FF2B5EF4-FFF2-40B4-BE49-F238E27FC236}">
                <a16:creationId xmlns:a16="http://schemas.microsoft.com/office/drawing/2014/main" id="{827D79FD-A19D-5B9B-34F0-EB85B401A027}"/>
              </a:ext>
            </a:extLst>
          </p:cNvPr>
          <p:cNvSpPr>
            <a:spLocks noGrp="1"/>
          </p:cNvSpPr>
          <p:nvPr>
            <p:ph type="sldNum" sz="quarter" idx="12"/>
          </p:nvPr>
        </p:nvSpPr>
        <p:spPr/>
        <p:txBody>
          <a:bodyPr/>
          <a:lstStyle/>
          <a:p>
            <a:fld id="{095B67F8-3864-425A-A4D9-E2BC08C4F04D}" type="slidenum">
              <a:rPr lang="en-IN" smtClean="0"/>
              <a:t>4</a:t>
            </a:fld>
            <a:endParaRPr lang="en-IN"/>
          </a:p>
        </p:txBody>
      </p:sp>
    </p:spTree>
    <p:extLst>
      <p:ext uri="{BB962C8B-B14F-4D97-AF65-F5344CB8AC3E}">
        <p14:creationId xmlns:p14="http://schemas.microsoft.com/office/powerpoint/2010/main" val="133898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48BA-424C-1950-AD9D-34A597B2E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1E64C-5D44-EAE7-C289-272DFFB27A0D}"/>
              </a:ext>
            </a:extLst>
          </p:cNvPr>
          <p:cNvSpPr>
            <a:spLocks noGrp="1"/>
          </p:cNvSpPr>
          <p:nvPr>
            <p:ph type="title"/>
          </p:nvPr>
        </p:nvSpPr>
        <p:spPr/>
        <p:txBody>
          <a:bodyPr/>
          <a:lstStyle/>
          <a:p>
            <a:pPr algn="ctr"/>
            <a:r>
              <a:rPr lang="en-US" u="sng"/>
              <a:t>Literature Survey </a:t>
            </a:r>
          </a:p>
        </p:txBody>
      </p:sp>
      <p:sp>
        <p:nvSpPr>
          <p:cNvPr id="7" name="Slide Number Placeholder 6">
            <a:extLst>
              <a:ext uri="{FF2B5EF4-FFF2-40B4-BE49-F238E27FC236}">
                <a16:creationId xmlns:a16="http://schemas.microsoft.com/office/drawing/2014/main" id="{153CC15C-44FF-A6BE-C156-7A518D5F9FE8}"/>
              </a:ext>
            </a:extLst>
          </p:cNvPr>
          <p:cNvSpPr>
            <a:spLocks noGrp="1"/>
          </p:cNvSpPr>
          <p:nvPr>
            <p:ph type="sldNum" sz="quarter" idx="12"/>
          </p:nvPr>
        </p:nvSpPr>
        <p:spPr/>
        <p:txBody>
          <a:bodyPr/>
          <a:lstStyle/>
          <a:p>
            <a:fld id="{095B67F8-3864-425A-A4D9-E2BC08C4F04D}" type="slidenum">
              <a:rPr lang="en-IN" smtClean="0"/>
              <a:t>5</a:t>
            </a:fld>
            <a:endParaRPr lang="en-IN"/>
          </a:p>
        </p:txBody>
      </p:sp>
      <p:sp>
        <p:nvSpPr>
          <p:cNvPr id="8" name="Rectangle 4">
            <a:extLst>
              <a:ext uri="{FF2B5EF4-FFF2-40B4-BE49-F238E27FC236}">
                <a16:creationId xmlns:a16="http://schemas.microsoft.com/office/drawing/2014/main" id="{F4CB3F7F-2D9B-B712-DF47-09E28DB5EE1A}"/>
              </a:ext>
            </a:extLst>
          </p:cNvPr>
          <p:cNvSpPr>
            <a:spLocks noGrp="1" noChangeArrowheads="1"/>
          </p:cNvSpPr>
          <p:nvPr>
            <p:ph idx="1"/>
          </p:nvPr>
        </p:nvSpPr>
        <p:spPr bwMode="auto">
          <a:xfrm>
            <a:off x="838202" y="1664465"/>
            <a:ext cx="1100743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Used Car Price Prediction Using Machine Learning (Kumar et al., 2020)</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This study applied algorithms like Linear Regression and Random Forest to predict car prices based on historical data. The research demonstrated how feature selection and model tuning significantly improve performance in regression tasks.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Deep Learning for Vehicle Price Estimation (Sharma &amp; Mehta, 2021)</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This work explored Convolutional Neural Networks (CNNs) and Recurrent Neural Networks (RNNs) for understanding complex patterns in used car datasets. It found that CNNs effectively handle structured tabular data when reshaped, improving predictive accuracy.</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Hybrid Deep Learning and Ensemble Models (Chen et al., 2022)</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The authors proposed combining feature extraction from deep learning models with Random Forest for final prediction. This hybrid architecture yielded higher R² scores and robustness against overfitting, emphasizing its effectiveness in real-world scenarios.</a:t>
            </a:r>
          </a:p>
        </p:txBody>
      </p:sp>
    </p:spTree>
    <p:extLst>
      <p:ext uri="{BB962C8B-B14F-4D97-AF65-F5344CB8AC3E}">
        <p14:creationId xmlns:p14="http://schemas.microsoft.com/office/powerpoint/2010/main" val="4002181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91B4-2B76-32D5-67AE-3E8204B6217A}"/>
              </a:ext>
            </a:extLst>
          </p:cNvPr>
          <p:cNvSpPr>
            <a:spLocks noGrp="1"/>
          </p:cNvSpPr>
          <p:nvPr>
            <p:ph type="title"/>
          </p:nvPr>
        </p:nvSpPr>
        <p:spPr/>
        <p:txBody>
          <a:bodyPr/>
          <a:lstStyle/>
          <a:p>
            <a:pPr algn="ctr"/>
            <a:r>
              <a:rPr lang="en-US"/>
              <a:t>Research Gap</a:t>
            </a:r>
          </a:p>
        </p:txBody>
      </p:sp>
      <p:sp>
        <p:nvSpPr>
          <p:cNvPr id="3" name="Content Placeholder 2">
            <a:extLst>
              <a:ext uri="{FF2B5EF4-FFF2-40B4-BE49-F238E27FC236}">
                <a16:creationId xmlns:a16="http://schemas.microsoft.com/office/drawing/2014/main" id="{F9BCC5A8-18E0-1CD0-B696-BA7FEAC1D724}"/>
              </a:ext>
            </a:extLst>
          </p:cNvPr>
          <p:cNvSpPr>
            <a:spLocks noGrp="1"/>
          </p:cNvSpPr>
          <p:nvPr>
            <p:ph idx="1"/>
          </p:nvPr>
        </p:nvSpPr>
        <p:spPr/>
        <p:txBody>
          <a:bodyPr/>
          <a:lstStyle/>
          <a:p>
            <a:pPr>
              <a:buNone/>
            </a:pPr>
            <a:r>
              <a:rPr lang="en-US" dirty="0"/>
              <a:t>Identifying the research gap helps justify the need for this project and highlights how it contributes beyond existing solutions. Key gaps identified include:</a:t>
            </a:r>
          </a:p>
          <a:p>
            <a:pPr>
              <a:buFont typeface="Arial" panose="020B0604020202020204" pitchFamily="34" charset="0"/>
              <a:buChar char="•"/>
            </a:pPr>
            <a:r>
              <a:rPr lang="en-US" b="1" dirty="0"/>
              <a:t>Lack of Hybrid Models in Price Prediction</a:t>
            </a:r>
            <a:r>
              <a:rPr lang="en-US" dirty="0"/>
              <a:t>:</a:t>
            </a:r>
            <a:br>
              <a:rPr lang="en-US" dirty="0"/>
            </a:br>
            <a:r>
              <a:rPr lang="en-US" dirty="0"/>
              <a:t>Most existing used car price prediction systems rely solely on either machine learning or deep learning. Very few leverage the strengths of both in a hybrid format to enhance prediction accuracy and generalization.</a:t>
            </a:r>
          </a:p>
          <a:p>
            <a:pPr>
              <a:buFont typeface="Arial" panose="020B0604020202020204" pitchFamily="34" charset="0"/>
              <a:buChar char="•"/>
            </a:pPr>
            <a:r>
              <a:rPr lang="en-US" b="1" dirty="0"/>
              <a:t>Limited Use of Sequential Modeling Techniques</a:t>
            </a:r>
            <a:r>
              <a:rPr lang="en-US" dirty="0"/>
              <a:t>:</a:t>
            </a:r>
            <a:br>
              <a:rPr lang="en-US" dirty="0"/>
            </a:br>
            <a:r>
              <a:rPr lang="en-US" dirty="0"/>
              <a:t>Time-related features such as vehicle age or historical trends are often overlooked. There's minimal use of models like LSTM or RNN, which are better suited for capturing sequential patterns.</a:t>
            </a:r>
          </a:p>
          <a:p>
            <a:pPr>
              <a:buFont typeface="Arial" panose="020B0604020202020204" pitchFamily="34" charset="0"/>
              <a:buChar char="•"/>
            </a:pPr>
            <a:r>
              <a:rPr lang="en-US" b="1" dirty="0"/>
              <a:t>Absence of Real-time, User-Interactive Platforms</a:t>
            </a:r>
            <a:r>
              <a:rPr lang="en-US" dirty="0"/>
              <a:t>:</a:t>
            </a:r>
            <a:br>
              <a:rPr lang="en-US" dirty="0"/>
            </a:br>
            <a:r>
              <a:rPr lang="en-US" dirty="0"/>
              <a:t>Many studies provide offline prediction results and lack real-time user interaction. There is a gap in integrating trained models into accessible, intuitive web applications for public use.</a:t>
            </a:r>
          </a:p>
          <a:p>
            <a:pPr marL="0" indent="0">
              <a:buNone/>
            </a:pPr>
            <a:endParaRPr lang="en-US" dirty="0"/>
          </a:p>
        </p:txBody>
      </p:sp>
      <p:sp>
        <p:nvSpPr>
          <p:cNvPr id="7" name="Slide Number Placeholder 6">
            <a:extLst>
              <a:ext uri="{FF2B5EF4-FFF2-40B4-BE49-F238E27FC236}">
                <a16:creationId xmlns:a16="http://schemas.microsoft.com/office/drawing/2014/main" id="{A43FF53A-7BBB-E69F-27F8-50FE8E4A2453}"/>
              </a:ext>
            </a:extLst>
          </p:cNvPr>
          <p:cNvSpPr>
            <a:spLocks noGrp="1"/>
          </p:cNvSpPr>
          <p:nvPr>
            <p:ph type="sldNum" sz="quarter" idx="12"/>
          </p:nvPr>
        </p:nvSpPr>
        <p:spPr/>
        <p:txBody>
          <a:bodyPr/>
          <a:lstStyle/>
          <a:p>
            <a:fld id="{095B67F8-3864-425A-A4D9-E2BC08C4F04D}" type="slidenum">
              <a:rPr lang="en-IN" smtClean="0"/>
              <a:t>6</a:t>
            </a:fld>
            <a:endParaRPr lang="en-IN"/>
          </a:p>
        </p:txBody>
      </p:sp>
    </p:spTree>
    <p:extLst>
      <p:ext uri="{BB962C8B-B14F-4D97-AF65-F5344CB8AC3E}">
        <p14:creationId xmlns:p14="http://schemas.microsoft.com/office/powerpoint/2010/main" val="313979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32DBE-52EE-A517-2F0D-7109ADFE71A0}"/>
              </a:ext>
            </a:extLst>
          </p:cNvPr>
          <p:cNvSpPr>
            <a:spLocks noGrp="1"/>
          </p:cNvSpPr>
          <p:nvPr>
            <p:ph type="title"/>
          </p:nvPr>
        </p:nvSpPr>
        <p:spPr/>
        <p:txBody>
          <a:bodyPr/>
          <a:lstStyle/>
          <a:p>
            <a:pPr algn="ctr"/>
            <a:r>
              <a:rPr lang="en-US" u="sng" dirty="0"/>
              <a:t>Objective </a:t>
            </a:r>
          </a:p>
        </p:txBody>
      </p:sp>
      <p:sp>
        <p:nvSpPr>
          <p:cNvPr id="7" name="Slide Number Placeholder 6">
            <a:extLst>
              <a:ext uri="{FF2B5EF4-FFF2-40B4-BE49-F238E27FC236}">
                <a16:creationId xmlns:a16="http://schemas.microsoft.com/office/drawing/2014/main" id="{726A5D66-AA6E-C120-89AB-5167D1D38CCB}"/>
              </a:ext>
            </a:extLst>
          </p:cNvPr>
          <p:cNvSpPr>
            <a:spLocks noGrp="1"/>
          </p:cNvSpPr>
          <p:nvPr>
            <p:ph type="sldNum" sz="quarter" idx="12"/>
          </p:nvPr>
        </p:nvSpPr>
        <p:spPr/>
        <p:txBody>
          <a:bodyPr/>
          <a:lstStyle/>
          <a:p>
            <a:fld id="{095B67F8-3864-425A-A4D9-E2BC08C4F04D}" type="slidenum">
              <a:rPr lang="en-IN" smtClean="0"/>
              <a:t>7</a:t>
            </a:fld>
            <a:endParaRPr lang="en-IN"/>
          </a:p>
        </p:txBody>
      </p:sp>
      <p:sp>
        <p:nvSpPr>
          <p:cNvPr id="5" name="Rectangle 2">
            <a:extLst>
              <a:ext uri="{FF2B5EF4-FFF2-40B4-BE49-F238E27FC236}">
                <a16:creationId xmlns:a16="http://schemas.microsoft.com/office/drawing/2014/main" id="{3204CC11-0056-AE5B-0D02-1779AD5B3096}"/>
              </a:ext>
            </a:extLst>
          </p:cNvPr>
          <p:cNvSpPr>
            <a:spLocks noGrp="1" noChangeArrowheads="1"/>
          </p:cNvSpPr>
          <p:nvPr>
            <p:ph idx="1"/>
          </p:nvPr>
        </p:nvSpPr>
        <p:spPr bwMode="auto">
          <a:xfrm>
            <a:off x="838200" y="1915605"/>
            <a:ext cx="1075805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Develop a Hybrid Prediction Model</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To design and implement a hybrid model that combines deep learning (CNN, RNN, LSTM) for feature extraction and Random Forest for final car price prediction.</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Ensure High Accuracy and Generalization</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To achieve strong predictive performance across different types of vehicles using R² score, MAE, and RMSE as evaluation metrics.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Implement Advanced Feature Engineering</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To enhance model input by engineering features like vehicle age, log-transformed kilometers driven, and encoded categorical attributes.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Deploy a User-Friendly Web Application</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To create a real-time, accessible Flask-based web interface that allows users to input car details and receive instant price predictions.</a:t>
            </a:r>
          </a:p>
        </p:txBody>
      </p:sp>
    </p:spTree>
    <p:extLst>
      <p:ext uri="{BB962C8B-B14F-4D97-AF65-F5344CB8AC3E}">
        <p14:creationId xmlns:p14="http://schemas.microsoft.com/office/powerpoint/2010/main" val="134762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1F9F3-805E-8DEF-8C3A-B310AE8E57AA}"/>
              </a:ext>
            </a:extLst>
          </p:cNvPr>
          <p:cNvSpPr>
            <a:spLocks noGrp="1"/>
          </p:cNvSpPr>
          <p:nvPr>
            <p:ph type="title"/>
          </p:nvPr>
        </p:nvSpPr>
        <p:spPr/>
        <p:txBody>
          <a:bodyPr/>
          <a:lstStyle/>
          <a:p>
            <a:pPr algn="ctr"/>
            <a:r>
              <a:rPr lang="en-US" u="sng"/>
              <a:t>Project timeline </a:t>
            </a:r>
          </a:p>
        </p:txBody>
      </p:sp>
      <p:pic>
        <p:nvPicPr>
          <p:cNvPr id="9" name="Content Placeholder 8" descr="A graph with different colored squares&#10;&#10;AI-generated content may be incorrect.">
            <a:extLst>
              <a:ext uri="{FF2B5EF4-FFF2-40B4-BE49-F238E27FC236}">
                <a16:creationId xmlns:a16="http://schemas.microsoft.com/office/drawing/2014/main" id="{EE93F47F-97E1-F4AA-9B4C-7390536004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2211" y="1690688"/>
            <a:ext cx="9887578" cy="4422321"/>
          </a:xfrm>
        </p:spPr>
      </p:pic>
      <p:sp>
        <p:nvSpPr>
          <p:cNvPr id="7" name="Slide Number Placeholder 6">
            <a:extLst>
              <a:ext uri="{FF2B5EF4-FFF2-40B4-BE49-F238E27FC236}">
                <a16:creationId xmlns:a16="http://schemas.microsoft.com/office/drawing/2014/main" id="{8087EB8B-0311-3F02-D825-0CD12B36331C}"/>
              </a:ext>
            </a:extLst>
          </p:cNvPr>
          <p:cNvSpPr>
            <a:spLocks noGrp="1"/>
          </p:cNvSpPr>
          <p:nvPr>
            <p:ph type="sldNum" sz="quarter" idx="12"/>
          </p:nvPr>
        </p:nvSpPr>
        <p:spPr/>
        <p:txBody>
          <a:bodyPr/>
          <a:lstStyle/>
          <a:p>
            <a:fld id="{095B67F8-3864-425A-A4D9-E2BC08C4F04D}" type="slidenum">
              <a:rPr lang="en-IN" smtClean="0"/>
              <a:t>8</a:t>
            </a:fld>
            <a:endParaRPr lang="en-IN"/>
          </a:p>
        </p:txBody>
      </p:sp>
    </p:spTree>
    <p:extLst>
      <p:ext uri="{BB962C8B-B14F-4D97-AF65-F5344CB8AC3E}">
        <p14:creationId xmlns:p14="http://schemas.microsoft.com/office/powerpoint/2010/main" val="3585169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4AD2-C005-B8ED-3923-E94FC1D3A4F2}"/>
              </a:ext>
            </a:extLst>
          </p:cNvPr>
          <p:cNvSpPr>
            <a:spLocks noGrp="1"/>
          </p:cNvSpPr>
          <p:nvPr>
            <p:ph type="title"/>
          </p:nvPr>
        </p:nvSpPr>
        <p:spPr/>
        <p:txBody>
          <a:bodyPr/>
          <a:lstStyle/>
          <a:p>
            <a:pPr algn="ctr"/>
            <a:r>
              <a:rPr lang="en-US" u="sng" dirty="0"/>
              <a:t>Research Methodology </a:t>
            </a:r>
          </a:p>
        </p:txBody>
      </p:sp>
      <p:sp>
        <p:nvSpPr>
          <p:cNvPr id="7" name="Slide Number Placeholder 6">
            <a:extLst>
              <a:ext uri="{FF2B5EF4-FFF2-40B4-BE49-F238E27FC236}">
                <a16:creationId xmlns:a16="http://schemas.microsoft.com/office/drawing/2014/main" id="{D7255CE0-3CFA-5692-73FD-94E0361794C8}"/>
              </a:ext>
            </a:extLst>
          </p:cNvPr>
          <p:cNvSpPr>
            <a:spLocks noGrp="1"/>
          </p:cNvSpPr>
          <p:nvPr>
            <p:ph type="sldNum" sz="quarter" idx="12"/>
          </p:nvPr>
        </p:nvSpPr>
        <p:spPr/>
        <p:txBody>
          <a:bodyPr/>
          <a:lstStyle/>
          <a:p>
            <a:fld id="{095B67F8-3864-425A-A4D9-E2BC08C4F04D}" type="slidenum">
              <a:rPr lang="en-IN" smtClean="0"/>
              <a:t>9</a:t>
            </a:fld>
            <a:endParaRPr lang="en-IN"/>
          </a:p>
        </p:txBody>
      </p:sp>
      <p:sp>
        <p:nvSpPr>
          <p:cNvPr id="4" name="Rectangle 1">
            <a:extLst>
              <a:ext uri="{FF2B5EF4-FFF2-40B4-BE49-F238E27FC236}">
                <a16:creationId xmlns:a16="http://schemas.microsoft.com/office/drawing/2014/main" id="{6E280131-F1C6-73B7-02F5-E49FD3C7C2A7}"/>
              </a:ext>
            </a:extLst>
          </p:cNvPr>
          <p:cNvSpPr>
            <a:spLocks noGrp="1" noChangeArrowheads="1"/>
          </p:cNvSpPr>
          <p:nvPr>
            <p:ph idx="1"/>
          </p:nvPr>
        </p:nvSpPr>
        <p:spPr bwMode="auto">
          <a:xfrm>
            <a:off x="838200" y="1540332"/>
            <a:ext cx="10986656"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Data Collection and Preprocessing</a:t>
            </a:r>
            <a:r>
              <a:rPr kumimoji="0" lang="en-US" altLang="en-US" b="0" i="0" u="none" strike="noStrike" cap="none" normalizeH="0" baseline="0" dirty="0">
                <a:ln>
                  <a:noFill/>
                </a:ln>
                <a:solidFill>
                  <a:schemeClr val="tx1"/>
                </a:solidFill>
                <a:effectLst/>
                <a:latin typeface="+mj-lt"/>
              </a:rPr>
              <a:t>:</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err="1">
                <a:ln>
                  <a:noFill/>
                </a:ln>
                <a:solidFill>
                  <a:schemeClr val="tx1"/>
                </a:solidFill>
                <a:effectLst/>
                <a:latin typeface="+mj-lt"/>
              </a:rPr>
              <a:t>Webscraped</a:t>
            </a:r>
            <a:r>
              <a:rPr kumimoji="0" lang="en-US" altLang="en-US" b="0" i="0" u="none" strike="noStrike" cap="none" normalizeH="0" baseline="0" dirty="0">
                <a:ln>
                  <a:noFill/>
                </a:ln>
                <a:solidFill>
                  <a:schemeClr val="tx1"/>
                </a:solidFill>
                <a:effectLst/>
                <a:latin typeface="+mj-lt"/>
              </a:rPr>
              <a:t> car listings from the </a:t>
            </a:r>
            <a:r>
              <a:rPr kumimoji="0" lang="en-US" altLang="en-US" b="0" i="0" u="none" strike="noStrike" cap="none" normalizeH="0" baseline="0" dirty="0" err="1">
                <a:ln>
                  <a:noFill/>
                </a:ln>
                <a:solidFill>
                  <a:schemeClr val="tx1"/>
                </a:solidFill>
                <a:effectLst/>
                <a:latin typeface="+mj-lt"/>
              </a:rPr>
              <a:t>CarDekho</a:t>
            </a:r>
            <a:r>
              <a:rPr kumimoji="0" lang="en-US" altLang="en-US" b="0" i="0" u="none" strike="noStrike" cap="none" normalizeH="0" baseline="0" dirty="0">
                <a:ln>
                  <a:noFill/>
                </a:ln>
                <a:solidFill>
                  <a:schemeClr val="tx1"/>
                </a:solidFill>
                <a:effectLst/>
                <a:latin typeface="+mj-lt"/>
              </a:rPr>
              <a:t> website. Cleaned and preprocessed the data by handling missing values, encoding categorical variables, scaling numerical features, and engineering new features like car age and log-kilometers.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Model Development</a:t>
            </a:r>
            <a:r>
              <a:rPr kumimoji="0" lang="en-US" altLang="en-US" b="0" i="0" u="none" strike="noStrike" cap="none" normalizeH="0" baseline="0" dirty="0">
                <a:ln>
                  <a:noFill/>
                </a:ln>
                <a:solidFill>
                  <a:schemeClr val="tx1"/>
                </a:solidFill>
                <a:effectLst/>
                <a:latin typeface="+mj-lt"/>
              </a:rPr>
              <a:t>:</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Designed deep learning models (CNN, RNN, LSTM) to extract complex features from the processed dataset. Combined these with Random Forest regressors to form hybrid models, optimizing for accuracy and generalization.</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System Integration and Application Development</a:t>
            </a:r>
            <a:r>
              <a:rPr kumimoji="0" lang="en-US" altLang="en-US" b="0" i="0" u="none" strike="noStrike" cap="none" normalizeH="0" baseline="0" dirty="0">
                <a:ln>
                  <a:noFill/>
                </a:ln>
                <a:solidFill>
                  <a:schemeClr val="tx1"/>
                </a:solidFill>
                <a:effectLst/>
                <a:latin typeface="+mj-lt"/>
              </a:rPr>
              <a:t>:</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Integrated trained models into a Flask-based web application. Created an interactive frontend that collects user input and delivers predictions using the backend inference engine.</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Testing and Evaluation</a:t>
            </a:r>
            <a:r>
              <a:rPr kumimoji="0" lang="en-US" altLang="en-US" b="0" i="0" u="none" strike="noStrike" cap="none" normalizeH="0" baseline="0" dirty="0">
                <a:ln>
                  <a:noFill/>
                </a:ln>
                <a:solidFill>
                  <a:schemeClr val="tx1"/>
                </a:solidFill>
                <a:effectLst/>
                <a:latin typeface="+mj-lt"/>
              </a:rPr>
              <a:t>:</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a:ln>
                  <a:noFill/>
                </a:ln>
                <a:solidFill>
                  <a:schemeClr val="tx1"/>
                </a:solidFill>
                <a:effectLst/>
                <a:latin typeface="+mj-lt"/>
              </a:rPr>
              <a:t>Evaluated models using performance metrics such as R² Score, Mean Absolute Error (MAE), and Root Mean Squared Error (RMSE) on the test dataset to ensure robustness and accuracy.</a:t>
            </a:r>
          </a:p>
        </p:txBody>
      </p:sp>
    </p:spTree>
    <p:extLst>
      <p:ext uri="{BB962C8B-B14F-4D97-AF65-F5344CB8AC3E}">
        <p14:creationId xmlns:p14="http://schemas.microsoft.com/office/powerpoint/2010/main" val="3547588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3F80F-0B91-77D7-F563-ECCF91053510}"/>
              </a:ext>
            </a:extLst>
          </p:cNvPr>
          <p:cNvSpPr>
            <a:spLocks noGrp="1"/>
          </p:cNvSpPr>
          <p:nvPr>
            <p:ph type="title"/>
          </p:nvPr>
        </p:nvSpPr>
        <p:spPr/>
        <p:txBody>
          <a:bodyPr/>
          <a:lstStyle/>
          <a:p>
            <a:pPr algn="ctr"/>
            <a:r>
              <a:rPr lang="en-US" u="sng"/>
              <a:t>Implementation steps </a:t>
            </a:r>
          </a:p>
        </p:txBody>
      </p:sp>
      <p:sp>
        <p:nvSpPr>
          <p:cNvPr id="7" name="Slide Number Placeholder 6">
            <a:extLst>
              <a:ext uri="{FF2B5EF4-FFF2-40B4-BE49-F238E27FC236}">
                <a16:creationId xmlns:a16="http://schemas.microsoft.com/office/drawing/2014/main" id="{BDCDD2BB-6C4B-95AA-325D-19818F0A6C25}"/>
              </a:ext>
            </a:extLst>
          </p:cNvPr>
          <p:cNvSpPr>
            <a:spLocks noGrp="1"/>
          </p:cNvSpPr>
          <p:nvPr>
            <p:ph type="sldNum" sz="quarter" idx="12"/>
          </p:nvPr>
        </p:nvSpPr>
        <p:spPr/>
        <p:txBody>
          <a:bodyPr/>
          <a:lstStyle/>
          <a:p>
            <a:fld id="{095B67F8-3864-425A-A4D9-E2BC08C4F04D}" type="slidenum">
              <a:rPr lang="en-IN" smtClean="0"/>
              <a:t>10</a:t>
            </a:fld>
            <a:endParaRPr lang="en-IN"/>
          </a:p>
        </p:txBody>
      </p:sp>
      <p:sp>
        <p:nvSpPr>
          <p:cNvPr id="5" name="Rectangle 2">
            <a:extLst>
              <a:ext uri="{FF2B5EF4-FFF2-40B4-BE49-F238E27FC236}">
                <a16:creationId xmlns:a16="http://schemas.microsoft.com/office/drawing/2014/main" id="{9B84F372-23BC-20BB-B2FD-7E9778D41FCF}"/>
              </a:ext>
            </a:extLst>
          </p:cNvPr>
          <p:cNvSpPr>
            <a:spLocks noGrp="1" noChangeArrowheads="1"/>
          </p:cNvSpPr>
          <p:nvPr>
            <p:ph idx="1"/>
          </p:nvPr>
        </p:nvSpPr>
        <p:spPr bwMode="auto">
          <a:xfrm>
            <a:off x="838199" y="2244259"/>
            <a:ext cx="1046018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Data Collection:</a:t>
            </a:r>
            <a:r>
              <a:rPr kumimoji="0" lang="en-US" altLang="en-US" b="0" i="0" u="none" strike="noStrike" cap="none" normalizeH="0" baseline="0" dirty="0">
                <a:ln>
                  <a:noFill/>
                </a:ln>
                <a:solidFill>
                  <a:schemeClr val="tx1"/>
                </a:solidFill>
                <a:effectLst/>
                <a:latin typeface="+mj-lt"/>
              </a:rPr>
              <a:t> Scraped used car listings from </a:t>
            </a:r>
            <a:r>
              <a:rPr kumimoji="0" lang="en-US" altLang="en-US" b="0" i="1" u="none" strike="noStrike" cap="none" normalizeH="0" baseline="0" dirty="0" err="1">
                <a:ln>
                  <a:noFill/>
                </a:ln>
                <a:solidFill>
                  <a:schemeClr val="tx1"/>
                </a:solidFill>
                <a:effectLst/>
                <a:latin typeface="+mj-lt"/>
              </a:rPr>
              <a:t>CarDekho</a:t>
            </a:r>
            <a:r>
              <a:rPr kumimoji="0" lang="en-US" altLang="en-US" b="0" i="1" u="none" strike="noStrike" cap="none" normalizeH="0" baseline="0" dirty="0">
                <a:ln>
                  <a:noFill/>
                </a:ln>
                <a:solidFill>
                  <a:schemeClr val="tx1"/>
                </a:solidFill>
                <a:effectLst/>
                <a:latin typeface="+mj-lt"/>
              </a:rPr>
              <a:t>.</a:t>
            </a: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Preprocessing:</a:t>
            </a:r>
            <a:r>
              <a:rPr kumimoji="0" lang="en-US" altLang="en-US" b="0" i="0" u="none" strike="noStrike" cap="none" normalizeH="0" baseline="0" dirty="0">
                <a:ln>
                  <a:noFill/>
                </a:ln>
                <a:solidFill>
                  <a:schemeClr val="tx1"/>
                </a:solidFill>
                <a:effectLst/>
                <a:latin typeface="+mj-lt"/>
              </a:rPr>
              <a:t> Cleaned data, extracted features like engine capacity, car age, log-kilometers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Modeling:</a:t>
            </a:r>
            <a:r>
              <a:rPr kumimoji="0" lang="en-US" altLang="en-US" b="0" i="0" u="none" strike="noStrike" cap="none" normalizeH="0" baseline="0" dirty="0">
                <a:ln>
                  <a:noFill/>
                </a:ln>
                <a:solidFill>
                  <a:schemeClr val="tx1"/>
                </a:solidFill>
                <a:effectLst/>
                <a:latin typeface="+mj-lt"/>
              </a:rPr>
              <a:t> Trained deep learning (LSTM, CNN, RNN) and hybrid (LSTM+RF, CNN+RF, RNN+RF) models; used ensemble for better accuracy</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Backend:</a:t>
            </a:r>
            <a:r>
              <a:rPr kumimoji="0" lang="en-US" altLang="en-US" b="0" i="0" u="none" strike="noStrike" cap="none" normalizeH="0" baseline="0" dirty="0">
                <a:ln>
                  <a:noFill/>
                </a:ln>
                <a:solidFill>
                  <a:schemeClr val="tx1"/>
                </a:solidFill>
                <a:effectLst/>
                <a:latin typeface="+mj-lt"/>
              </a:rPr>
              <a:t> Flask API for model serving and prediction logic</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Frontend:</a:t>
            </a:r>
            <a:r>
              <a:rPr kumimoji="0" lang="en-US" altLang="en-US" b="0" i="0" u="none" strike="noStrike" cap="none" normalizeH="0" baseline="0" dirty="0">
                <a:ln>
                  <a:noFill/>
                </a:ln>
                <a:solidFill>
                  <a:schemeClr val="tx1"/>
                </a:solidFill>
                <a:effectLst/>
                <a:latin typeface="+mj-lt"/>
              </a:rPr>
              <a:t> HTML + Bootstrap form for user input and displaying predicted prices</a:t>
            </a:r>
          </a:p>
        </p:txBody>
      </p:sp>
    </p:spTree>
    <p:extLst>
      <p:ext uri="{BB962C8B-B14F-4D97-AF65-F5344CB8AC3E}">
        <p14:creationId xmlns:p14="http://schemas.microsoft.com/office/powerpoint/2010/main" val="3814904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E587-6A70-CA44-9BEC-4D8308BE9BEB}"/>
              </a:ext>
            </a:extLst>
          </p:cNvPr>
          <p:cNvSpPr>
            <a:spLocks noGrp="1"/>
          </p:cNvSpPr>
          <p:nvPr>
            <p:ph type="title"/>
          </p:nvPr>
        </p:nvSpPr>
        <p:spPr/>
        <p:txBody>
          <a:bodyPr/>
          <a:lstStyle/>
          <a:p>
            <a:pPr algn="ctr"/>
            <a:r>
              <a:rPr lang="en-US" u="sng" dirty="0"/>
              <a:t>Results </a:t>
            </a:r>
          </a:p>
        </p:txBody>
      </p:sp>
      <p:sp>
        <p:nvSpPr>
          <p:cNvPr id="7" name="Slide Number Placeholder 6">
            <a:extLst>
              <a:ext uri="{FF2B5EF4-FFF2-40B4-BE49-F238E27FC236}">
                <a16:creationId xmlns:a16="http://schemas.microsoft.com/office/drawing/2014/main" id="{856EF88C-CB50-AD77-B5A4-A21386373BF1}"/>
              </a:ext>
            </a:extLst>
          </p:cNvPr>
          <p:cNvSpPr>
            <a:spLocks noGrp="1"/>
          </p:cNvSpPr>
          <p:nvPr>
            <p:ph type="sldNum" sz="quarter" idx="12"/>
          </p:nvPr>
        </p:nvSpPr>
        <p:spPr/>
        <p:txBody>
          <a:bodyPr/>
          <a:lstStyle/>
          <a:p>
            <a:fld id="{095B67F8-3864-425A-A4D9-E2BC08C4F04D}" type="slidenum">
              <a:rPr lang="en-IN" smtClean="0"/>
              <a:t>11</a:t>
            </a:fld>
            <a:endParaRPr lang="en-IN"/>
          </a:p>
        </p:txBody>
      </p:sp>
      <p:sp>
        <p:nvSpPr>
          <p:cNvPr id="4" name="Rectangle 1">
            <a:extLst>
              <a:ext uri="{FF2B5EF4-FFF2-40B4-BE49-F238E27FC236}">
                <a16:creationId xmlns:a16="http://schemas.microsoft.com/office/drawing/2014/main" id="{2CE37D3F-D13C-291A-0040-08AC7E59C043}"/>
              </a:ext>
            </a:extLst>
          </p:cNvPr>
          <p:cNvSpPr>
            <a:spLocks noGrp="1" noChangeArrowheads="1"/>
          </p:cNvSpPr>
          <p:nvPr>
            <p:ph idx="1"/>
          </p:nvPr>
        </p:nvSpPr>
        <p:spPr bwMode="auto">
          <a:xfrm>
            <a:off x="838199" y="2231459"/>
            <a:ext cx="1051560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Accurate Predictions:</a:t>
            </a:r>
            <a:r>
              <a:rPr kumimoji="0" lang="en-US" altLang="en-US" b="0" i="0" u="none" strike="noStrike" cap="none" normalizeH="0" baseline="0" dirty="0">
                <a:ln>
                  <a:noFill/>
                </a:ln>
                <a:solidFill>
                  <a:schemeClr val="tx1"/>
                </a:solidFill>
                <a:effectLst/>
                <a:latin typeface="+mj-lt"/>
              </a:rPr>
              <a:t> The system delivers reliable used car price estimates using deep learning and hybrid models, with performance validated across diverse car brands and models.</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Smooth Integration:</a:t>
            </a:r>
            <a:r>
              <a:rPr kumimoji="0" lang="en-US" altLang="en-US" b="0" i="0" u="none" strike="noStrike" cap="none" normalizeH="0" baseline="0" dirty="0">
                <a:ln>
                  <a:noFill/>
                </a:ln>
                <a:solidFill>
                  <a:schemeClr val="tx1"/>
                </a:solidFill>
                <a:effectLst/>
                <a:latin typeface="+mj-lt"/>
              </a:rPr>
              <a:t> All models are integrated into a Flask-based web app with a clean interface, allowing users to input car details and get instant predictions.</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Fast &amp; Scalable:</a:t>
            </a:r>
            <a:r>
              <a:rPr kumimoji="0" lang="en-US" altLang="en-US" b="0" i="0" u="none" strike="noStrike" cap="none" normalizeH="0" baseline="0" dirty="0">
                <a:ln>
                  <a:noFill/>
                </a:ln>
                <a:solidFill>
                  <a:schemeClr val="tx1"/>
                </a:solidFill>
                <a:effectLst/>
                <a:latin typeface="+mj-lt"/>
              </a:rPr>
              <a:t> Models load efficiently, predictions are generated in real-time, and the app performs consistently across devices and browsers.</a:t>
            </a:r>
          </a:p>
        </p:txBody>
      </p:sp>
    </p:spTree>
    <p:extLst>
      <p:ext uri="{BB962C8B-B14F-4D97-AF65-F5344CB8AC3E}">
        <p14:creationId xmlns:p14="http://schemas.microsoft.com/office/powerpoint/2010/main" val="3062359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52519-182D-826C-0E02-D02F47508AF0}"/>
              </a:ext>
            </a:extLst>
          </p:cNvPr>
          <p:cNvSpPr>
            <a:spLocks noGrp="1"/>
          </p:cNvSpPr>
          <p:nvPr>
            <p:ph type="title"/>
          </p:nvPr>
        </p:nvSpPr>
        <p:spPr/>
        <p:txBody>
          <a:bodyPr/>
          <a:lstStyle/>
          <a:p>
            <a:pPr algn="ctr"/>
            <a:r>
              <a:rPr lang="en-IN" u="sng" dirty="0"/>
              <a:t>Limitations </a:t>
            </a:r>
          </a:p>
        </p:txBody>
      </p:sp>
      <p:sp>
        <p:nvSpPr>
          <p:cNvPr id="4" name="Slide Number Placeholder 3">
            <a:extLst>
              <a:ext uri="{FF2B5EF4-FFF2-40B4-BE49-F238E27FC236}">
                <a16:creationId xmlns:a16="http://schemas.microsoft.com/office/drawing/2014/main" id="{BC88AF16-29C9-F0F5-4C54-13C4944D062A}"/>
              </a:ext>
            </a:extLst>
          </p:cNvPr>
          <p:cNvSpPr>
            <a:spLocks noGrp="1"/>
          </p:cNvSpPr>
          <p:nvPr>
            <p:ph type="sldNum" sz="quarter" idx="12"/>
          </p:nvPr>
        </p:nvSpPr>
        <p:spPr/>
        <p:txBody>
          <a:bodyPr/>
          <a:lstStyle/>
          <a:p>
            <a:fld id="{095B67F8-3864-425A-A4D9-E2BC08C4F04D}" type="slidenum">
              <a:rPr lang="en-IN" smtClean="0"/>
              <a:t>12</a:t>
            </a:fld>
            <a:endParaRPr lang="en-IN"/>
          </a:p>
        </p:txBody>
      </p:sp>
      <p:sp>
        <p:nvSpPr>
          <p:cNvPr id="5" name="Rectangle 1">
            <a:extLst>
              <a:ext uri="{FF2B5EF4-FFF2-40B4-BE49-F238E27FC236}">
                <a16:creationId xmlns:a16="http://schemas.microsoft.com/office/drawing/2014/main" id="{8BB8B440-FF94-B4DF-3321-73CFBECEAFCF}"/>
              </a:ext>
            </a:extLst>
          </p:cNvPr>
          <p:cNvSpPr>
            <a:spLocks noGrp="1" noChangeArrowheads="1"/>
          </p:cNvSpPr>
          <p:nvPr>
            <p:ph idx="1"/>
          </p:nvPr>
        </p:nvSpPr>
        <p:spPr bwMode="auto">
          <a:xfrm>
            <a:off x="838200" y="1945666"/>
            <a:ext cx="10584873"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Limited Deployment:</a:t>
            </a:r>
            <a:r>
              <a:rPr kumimoji="0" lang="en-US" altLang="en-US" b="0" i="0" u="none" strike="noStrike" cap="none" normalizeH="0" baseline="0" dirty="0">
                <a:ln>
                  <a:noFill/>
                </a:ln>
                <a:solidFill>
                  <a:schemeClr val="tx1"/>
                </a:solidFill>
                <a:effectLst/>
                <a:latin typeface="+mj-lt"/>
              </a:rPr>
              <a:t> The system currently runs locally and is not yet deployed to a public cloud or hosting service.</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Static Dataset:</a:t>
            </a:r>
            <a:r>
              <a:rPr kumimoji="0" lang="en-US" altLang="en-US" b="0" i="0" u="none" strike="noStrike" cap="none" normalizeH="0" baseline="0" dirty="0">
                <a:ln>
                  <a:noFill/>
                </a:ln>
                <a:solidFill>
                  <a:schemeClr val="tx1"/>
                </a:solidFill>
                <a:effectLst/>
                <a:latin typeface="+mj-lt"/>
              </a:rPr>
              <a:t> The models are trained on web-scraped data and may not adapt well to newly released car models or changing market trends.</a:t>
            </a:r>
          </a:p>
          <a:p>
            <a:pPr marL="0" indent="0" defTabSz="914400" eaLnBrk="0" hangingPunct="0">
              <a:lnSpc>
                <a:spcPct val="100000"/>
              </a:lnSpc>
              <a:spcBef>
                <a:spcPct val="0"/>
              </a:spcBef>
              <a:buNone/>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Model Generalization:</a:t>
            </a:r>
            <a:r>
              <a:rPr kumimoji="0" lang="en-US" altLang="en-US" b="0" i="0" u="none" strike="noStrike" cap="none" normalizeH="0" baseline="0" dirty="0">
                <a:ln>
                  <a:noFill/>
                </a:ln>
                <a:solidFill>
                  <a:schemeClr val="tx1"/>
                </a:solidFill>
                <a:effectLst/>
                <a:latin typeface="+mj-lt"/>
              </a:rPr>
              <a:t> Predictions may be less accurate for rare brands or car configurations not well represented in the training data.</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No User Feedback Loop:</a:t>
            </a:r>
            <a:r>
              <a:rPr kumimoji="0" lang="en-US" altLang="en-US" b="0" i="0" u="none" strike="noStrike" cap="none" normalizeH="0" baseline="0" dirty="0">
                <a:ln>
                  <a:noFill/>
                </a:ln>
                <a:solidFill>
                  <a:schemeClr val="tx1"/>
                </a:solidFill>
                <a:effectLst/>
                <a:latin typeface="+mj-lt"/>
              </a:rPr>
              <a:t> The system doesn’t currently learn from user corrections or feedback for continuous improvement.</a:t>
            </a:r>
          </a:p>
        </p:txBody>
      </p:sp>
    </p:spTree>
    <p:extLst>
      <p:ext uri="{BB962C8B-B14F-4D97-AF65-F5344CB8AC3E}">
        <p14:creationId xmlns:p14="http://schemas.microsoft.com/office/powerpoint/2010/main" val="1397273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BFC4-CB24-3050-C930-0B92BE8AF79E}"/>
              </a:ext>
            </a:extLst>
          </p:cNvPr>
          <p:cNvSpPr>
            <a:spLocks noGrp="1"/>
          </p:cNvSpPr>
          <p:nvPr>
            <p:ph type="title"/>
          </p:nvPr>
        </p:nvSpPr>
        <p:spPr/>
        <p:txBody>
          <a:bodyPr/>
          <a:lstStyle/>
          <a:p>
            <a:pPr algn="ctr"/>
            <a:r>
              <a:rPr lang="en-US"/>
              <a:t>Future Scope </a:t>
            </a:r>
          </a:p>
        </p:txBody>
      </p:sp>
      <p:sp>
        <p:nvSpPr>
          <p:cNvPr id="7" name="Slide Number Placeholder 6">
            <a:extLst>
              <a:ext uri="{FF2B5EF4-FFF2-40B4-BE49-F238E27FC236}">
                <a16:creationId xmlns:a16="http://schemas.microsoft.com/office/drawing/2014/main" id="{C9EAC3BD-165F-35B8-3A43-F19B1580E1A7}"/>
              </a:ext>
            </a:extLst>
          </p:cNvPr>
          <p:cNvSpPr>
            <a:spLocks noGrp="1"/>
          </p:cNvSpPr>
          <p:nvPr>
            <p:ph type="sldNum" sz="quarter" idx="12"/>
          </p:nvPr>
        </p:nvSpPr>
        <p:spPr/>
        <p:txBody>
          <a:bodyPr/>
          <a:lstStyle/>
          <a:p>
            <a:fld id="{095B67F8-3864-425A-A4D9-E2BC08C4F04D}" type="slidenum">
              <a:rPr lang="en-IN" smtClean="0"/>
              <a:t>13</a:t>
            </a:fld>
            <a:endParaRPr lang="en-IN"/>
          </a:p>
        </p:txBody>
      </p:sp>
      <p:sp>
        <p:nvSpPr>
          <p:cNvPr id="4" name="Rectangle 1">
            <a:extLst>
              <a:ext uri="{FF2B5EF4-FFF2-40B4-BE49-F238E27FC236}">
                <a16:creationId xmlns:a16="http://schemas.microsoft.com/office/drawing/2014/main" id="{A16E3550-23B8-43FA-3D7B-F58669BFE02F}"/>
              </a:ext>
            </a:extLst>
          </p:cNvPr>
          <p:cNvSpPr>
            <a:spLocks noGrp="1" noChangeArrowheads="1"/>
          </p:cNvSpPr>
          <p:nvPr>
            <p:ph idx="1"/>
          </p:nvPr>
        </p:nvSpPr>
        <p:spPr bwMode="auto">
          <a:xfrm>
            <a:off x="838200" y="1767006"/>
            <a:ext cx="949729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Cloud Deployment:</a:t>
            </a:r>
            <a:r>
              <a:rPr kumimoji="0" lang="en-US" altLang="en-US" b="0" i="0" u="none" strike="noStrike" cap="none" normalizeH="0" baseline="0" dirty="0">
                <a:ln>
                  <a:noFill/>
                </a:ln>
                <a:solidFill>
                  <a:schemeClr val="tx1"/>
                </a:solidFill>
                <a:effectLst/>
                <a:latin typeface="+mj-lt"/>
              </a:rPr>
              <a:t> Host the app on platforms like AWS or Heroku to make it publicly accessible.</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Live Market Integration:</a:t>
            </a:r>
            <a:r>
              <a:rPr kumimoji="0" lang="en-US" altLang="en-US" b="0" i="0" u="none" strike="noStrike" cap="none" normalizeH="0" baseline="0" dirty="0">
                <a:ln>
                  <a:noFill/>
                </a:ln>
                <a:solidFill>
                  <a:schemeClr val="tx1"/>
                </a:solidFill>
                <a:effectLst/>
                <a:latin typeface="+mj-lt"/>
              </a:rPr>
              <a:t> Connect with APIs for real-time car listings and market prices to improve prediction accuracy.</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User Feedback Loop:</a:t>
            </a:r>
            <a:r>
              <a:rPr kumimoji="0" lang="en-US" altLang="en-US" b="0" i="0" u="none" strike="noStrike" cap="none" normalizeH="0" baseline="0" dirty="0">
                <a:ln>
                  <a:noFill/>
                </a:ln>
                <a:solidFill>
                  <a:schemeClr val="tx1"/>
                </a:solidFill>
                <a:effectLst/>
                <a:latin typeface="+mj-lt"/>
              </a:rPr>
              <a:t> Implement feedback-based model refinement to continuously improve predictions.</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Mobile App Version:</a:t>
            </a:r>
            <a:r>
              <a:rPr kumimoji="0" lang="en-US" altLang="en-US" b="0" i="0" u="none" strike="noStrike" cap="none" normalizeH="0" baseline="0" dirty="0">
                <a:ln>
                  <a:noFill/>
                </a:ln>
                <a:solidFill>
                  <a:schemeClr val="tx1"/>
                </a:solidFill>
                <a:effectLst/>
                <a:latin typeface="+mj-lt"/>
              </a:rPr>
              <a:t> Develop a mobile-friendly version for broader accessibility and convenience.</a:t>
            </a: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Advanced Visual Analytics:</a:t>
            </a:r>
            <a:r>
              <a:rPr kumimoji="0" lang="en-US" altLang="en-US" b="0" i="0" u="none" strike="noStrike" cap="none" normalizeH="0" baseline="0" dirty="0">
                <a:ln>
                  <a:noFill/>
                </a:ln>
                <a:solidFill>
                  <a:schemeClr val="tx1"/>
                </a:solidFill>
                <a:effectLst/>
                <a:latin typeface="+mj-lt"/>
              </a:rPr>
              <a:t> Add dashboards for trends, price comparisons, and model insights.</a:t>
            </a:r>
          </a:p>
        </p:txBody>
      </p:sp>
    </p:spTree>
    <p:extLst>
      <p:ext uri="{BB962C8B-B14F-4D97-AF65-F5344CB8AC3E}">
        <p14:creationId xmlns:p14="http://schemas.microsoft.com/office/powerpoint/2010/main" val="22140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30DD0-0889-0404-EA0C-773190382561}"/>
              </a:ext>
            </a:extLst>
          </p:cNvPr>
          <p:cNvSpPr>
            <a:spLocks noGrp="1"/>
          </p:cNvSpPr>
          <p:nvPr>
            <p:ph type="title"/>
          </p:nvPr>
        </p:nvSpPr>
        <p:spPr/>
        <p:txBody>
          <a:bodyPr/>
          <a:lstStyle/>
          <a:p>
            <a:pPr algn="ctr"/>
            <a:r>
              <a:rPr lang="en-US" u="sng"/>
              <a:t>Conclusion </a:t>
            </a:r>
          </a:p>
        </p:txBody>
      </p:sp>
      <p:sp>
        <p:nvSpPr>
          <p:cNvPr id="7" name="Slide Number Placeholder 6">
            <a:extLst>
              <a:ext uri="{FF2B5EF4-FFF2-40B4-BE49-F238E27FC236}">
                <a16:creationId xmlns:a16="http://schemas.microsoft.com/office/drawing/2014/main" id="{4D165DEA-9737-DEF8-09D6-56552876495B}"/>
              </a:ext>
            </a:extLst>
          </p:cNvPr>
          <p:cNvSpPr>
            <a:spLocks noGrp="1"/>
          </p:cNvSpPr>
          <p:nvPr>
            <p:ph type="sldNum" sz="quarter" idx="12"/>
          </p:nvPr>
        </p:nvSpPr>
        <p:spPr/>
        <p:txBody>
          <a:bodyPr/>
          <a:lstStyle/>
          <a:p>
            <a:fld id="{095B67F8-3864-425A-A4D9-E2BC08C4F04D}" type="slidenum">
              <a:rPr lang="en-IN" smtClean="0"/>
              <a:t>14</a:t>
            </a:fld>
            <a:endParaRPr lang="en-IN"/>
          </a:p>
        </p:txBody>
      </p:sp>
      <p:sp>
        <p:nvSpPr>
          <p:cNvPr id="4" name="Rectangle 1">
            <a:extLst>
              <a:ext uri="{FF2B5EF4-FFF2-40B4-BE49-F238E27FC236}">
                <a16:creationId xmlns:a16="http://schemas.microsoft.com/office/drawing/2014/main" id="{2915F81A-1AEA-28EB-EDC5-9A10D02411A6}"/>
              </a:ext>
            </a:extLst>
          </p:cNvPr>
          <p:cNvSpPr>
            <a:spLocks noGrp="1" noChangeArrowheads="1"/>
          </p:cNvSpPr>
          <p:nvPr>
            <p:ph idx="1"/>
          </p:nvPr>
        </p:nvSpPr>
        <p:spPr bwMode="auto">
          <a:xfrm>
            <a:off x="838200" y="1795954"/>
            <a:ext cx="10383982"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All-in-One Tool:</a:t>
            </a:r>
            <a:r>
              <a:rPr kumimoji="0" lang="en-US" altLang="en-US" b="0" i="0" u="none" strike="noStrike" cap="none" normalizeH="0" baseline="0" dirty="0">
                <a:ln>
                  <a:noFill/>
                </a:ln>
                <a:solidFill>
                  <a:schemeClr val="tx1"/>
                </a:solidFill>
                <a:effectLst/>
                <a:latin typeface="+mj-lt"/>
              </a:rPr>
              <a:t> The app provides users with a smart platform to estimate used car prices based on real data and AI models.</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Smart Assistance:</a:t>
            </a:r>
            <a:r>
              <a:rPr kumimoji="0" lang="en-US" altLang="en-US" b="0" i="0" u="none" strike="noStrike" cap="none" normalizeH="0" baseline="0" dirty="0">
                <a:ln>
                  <a:noFill/>
                </a:ln>
                <a:solidFill>
                  <a:schemeClr val="tx1"/>
                </a:solidFill>
                <a:effectLst/>
                <a:latin typeface="+mj-lt"/>
              </a:rPr>
              <a:t> Uses deep learning and hybrid models to deliver accurate and consistent predictions.</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User-Friendly:</a:t>
            </a:r>
            <a:r>
              <a:rPr kumimoji="0" lang="en-US" altLang="en-US" b="0" i="0" u="none" strike="noStrike" cap="none" normalizeH="0" baseline="0" dirty="0">
                <a:ln>
                  <a:noFill/>
                </a:ln>
                <a:solidFill>
                  <a:schemeClr val="tx1"/>
                </a:solidFill>
                <a:effectLst/>
                <a:latin typeface="+mj-lt"/>
              </a:rPr>
              <a:t> Designed for ease of use, making it accessible to both tech-savvy and non-technical users.</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Scalable:</a:t>
            </a:r>
            <a:r>
              <a:rPr kumimoji="0" lang="en-US" altLang="en-US" b="0" i="0" u="none" strike="noStrike" cap="none" normalizeH="0" baseline="0" dirty="0">
                <a:ln>
                  <a:noFill/>
                </a:ln>
                <a:solidFill>
                  <a:schemeClr val="tx1"/>
                </a:solidFill>
                <a:effectLst/>
                <a:latin typeface="+mj-lt"/>
              </a:rPr>
              <a:t> Built with flexibility to integrate more features like real-time data and cloud hosting.</a:t>
            </a:r>
          </a:p>
          <a:p>
            <a:pPr defTabSz="914400" eaLnBrk="0" hangingPunct="0">
              <a:lnSpc>
                <a:spcPct val="100000"/>
              </a:lnSpc>
              <a:spcBef>
                <a:spcPct val="0"/>
              </a:spcBef>
            </a:pPr>
            <a:endParaRPr kumimoji="0" lang="en-US" altLang="en-US" b="0" i="0" u="none" strike="noStrike" cap="none" normalizeH="0" baseline="0" dirty="0">
              <a:ln>
                <a:noFill/>
              </a:ln>
              <a:solidFill>
                <a:schemeClr val="tx1"/>
              </a:solidFill>
              <a:effectLst/>
              <a:latin typeface="+mj-lt"/>
            </a:endParaRPr>
          </a:p>
          <a:p>
            <a:pPr defTabSz="914400" eaLnBrk="0" hangingPunct="0">
              <a:lnSpc>
                <a:spcPct val="100000"/>
              </a:lnSpc>
              <a:spcBef>
                <a:spcPct val="0"/>
              </a:spcBef>
            </a:pPr>
            <a:r>
              <a:rPr kumimoji="0" lang="en-US" altLang="en-US" b="1" i="0" u="none" strike="noStrike" cap="none" normalizeH="0" baseline="0" dirty="0">
                <a:ln>
                  <a:noFill/>
                </a:ln>
                <a:solidFill>
                  <a:schemeClr val="tx1"/>
                </a:solidFill>
                <a:effectLst/>
                <a:latin typeface="+mj-lt"/>
              </a:rPr>
              <a:t>Saves Time &amp; Money:</a:t>
            </a:r>
            <a:r>
              <a:rPr kumimoji="0" lang="en-US" altLang="en-US" b="0" i="0" u="none" strike="noStrike" cap="none" normalizeH="0" baseline="0" dirty="0">
                <a:ln>
                  <a:noFill/>
                </a:ln>
                <a:solidFill>
                  <a:schemeClr val="tx1"/>
                </a:solidFill>
                <a:effectLst/>
                <a:latin typeface="+mj-lt"/>
              </a:rPr>
              <a:t> Helps users make better pricing decisions quickly, reducing guesswork and research time.</a:t>
            </a:r>
          </a:p>
        </p:txBody>
      </p:sp>
    </p:spTree>
    <p:extLst>
      <p:ext uri="{BB962C8B-B14F-4D97-AF65-F5344CB8AC3E}">
        <p14:creationId xmlns:p14="http://schemas.microsoft.com/office/powerpoint/2010/main" val="3166623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7504CB-D274-1B23-D41E-2FE77063C6C6}"/>
              </a:ext>
            </a:extLst>
          </p:cNvPr>
          <p:cNvSpPr>
            <a:spLocks noGrp="1"/>
          </p:cNvSpPr>
          <p:nvPr>
            <p:ph idx="1"/>
          </p:nvPr>
        </p:nvSpPr>
        <p:spPr>
          <a:xfrm>
            <a:off x="285542" y="2323070"/>
            <a:ext cx="12184464" cy="4307970"/>
          </a:xfrm>
        </p:spPr>
        <p:txBody>
          <a:bodyPr/>
          <a:lstStyle/>
          <a:p>
            <a:pPr marL="0" indent="0">
              <a:buNone/>
            </a:pPr>
            <a:r>
              <a:rPr lang="en-US" sz="15000"/>
              <a:t>THANK YOU</a:t>
            </a:r>
          </a:p>
        </p:txBody>
      </p:sp>
      <p:sp>
        <p:nvSpPr>
          <p:cNvPr id="7" name="Slide Number Placeholder 6">
            <a:extLst>
              <a:ext uri="{FF2B5EF4-FFF2-40B4-BE49-F238E27FC236}">
                <a16:creationId xmlns:a16="http://schemas.microsoft.com/office/drawing/2014/main" id="{CD6674A0-9EC7-6828-2FD7-CDEAB22250CE}"/>
              </a:ext>
            </a:extLst>
          </p:cNvPr>
          <p:cNvSpPr>
            <a:spLocks noGrp="1"/>
          </p:cNvSpPr>
          <p:nvPr>
            <p:ph type="sldNum" sz="quarter" idx="12"/>
          </p:nvPr>
        </p:nvSpPr>
        <p:spPr/>
        <p:txBody>
          <a:bodyPr/>
          <a:lstStyle/>
          <a:p>
            <a:fld id="{095B67F8-3864-425A-A4D9-E2BC08C4F04D}" type="slidenum">
              <a:rPr lang="en-IN" smtClean="0"/>
              <a:t>15</a:t>
            </a:fld>
            <a:endParaRPr lang="en-IN"/>
          </a:p>
        </p:txBody>
      </p:sp>
    </p:spTree>
    <p:extLst>
      <p:ext uri="{BB962C8B-B14F-4D97-AF65-F5344CB8AC3E}">
        <p14:creationId xmlns:p14="http://schemas.microsoft.com/office/powerpoint/2010/main" val="4142894418"/>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404_LEC0  -  Compatibility Mode" id="{3BDF6A17-ACBD-4545-BE13-AE1053292383}" vid="{F9445E81-6C4F-4E11-A32D-3F55FC671F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INT404_LEC0 TEMPLATE</Template>
  <TotalTime>1095</TotalTime>
  <Words>1428</Words>
  <Application>Microsoft Office PowerPoint</Application>
  <PresentationFormat>Widescreen</PresentationFormat>
  <Paragraphs>106</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 Braille</vt:lpstr>
      <vt:lpstr>Arial</vt:lpstr>
      <vt:lpstr>Calibri</vt:lpstr>
      <vt:lpstr>Calibri Light</vt:lpstr>
      <vt:lpstr>Times New Roman</vt:lpstr>
      <vt:lpstr>Theme1</vt:lpstr>
      <vt:lpstr>PowerPoint Presentation</vt:lpstr>
      <vt:lpstr>Content of Presentation</vt:lpstr>
      <vt:lpstr>Introduction</vt:lpstr>
      <vt:lpstr>AIM</vt:lpstr>
      <vt:lpstr>Literature Survey </vt:lpstr>
      <vt:lpstr>Research Gap</vt:lpstr>
      <vt:lpstr>Objective </vt:lpstr>
      <vt:lpstr>Project timeline </vt:lpstr>
      <vt:lpstr>Research Methodology </vt:lpstr>
      <vt:lpstr>Implementation steps </vt:lpstr>
      <vt:lpstr>Results </vt:lpstr>
      <vt:lpstr>Limitations </vt:lpstr>
      <vt:lpstr>Future Scope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 Revolution: Be the Change</dc:title>
  <dc:creator>Aashish</dc:creator>
  <cp:lastModifiedBy>Bethu Manohar</cp:lastModifiedBy>
  <cp:revision>98</cp:revision>
  <dcterms:created xsi:type="dcterms:W3CDTF">2025-01-04T06:25:56Z</dcterms:created>
  <dcterms:modified xsi:type="dcterms:W3CDTF">2025-05-03T03:06:43Z</dcterms:modified>
</cp:coreProperties>
</file>