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handoutMasterIdLst>
    <p:handoutMasterId r:id="rId13"/>
  </p:handoutMasterIdLst>
  <p:sldIdLst>
    <p:sldId id="345" r:id="rId2"/>
    <p:sldId id="347" r:id="rId3"/>
    <p:sldId id="346" r:id="rId4"/>
    <p:sldId id="348" r:id="rId5"/>
    <p:sldId id="353" r:id="rId6"/>
    <p:sldId id="351" r:id="rId7"/>
    <p:sldId id="352" r:id="rId8"/>
    <p:sldId id="350" r:id="rId9"/>
    <p:sldId id="354" r:id="rId10"/>
    <p:sldId id="34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5E8"/>
    <a:srgbClr val="9C1700"/>
    <a:srgbClr val="FFE6B2"/>
    <a:srgbClr val="477F99"/>
    <a:srgbClr val="6DA7BE"/>
    <a:srgbClr val="FAD192"/>
    <a:srgbClr val="FD8441"/>
    <a:srgbClr val="E48631"/>
    <a:srgbClr val="011324"/>
    <a:srgbClr val="E941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3" autoAdjust="0"/>
    <p:restoredTop sz="96357" autoAdjust="0"/>
  </p:normalViewPr>
  <p:slideViewPr>
    <p:cSldViewPr snapToGrid="0" showGuides="1">
      <p:cViewPr varScale="1">
        <p:scale>
          <a:sx n="82" d="100"/>
          <a:sy n="82" d="100"/>
        </p:scale>
        <p:origin x="490" y="72"/>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81" d="100"/>
          <a:sy n="81" d="100"/>
        </p:scale>
        <p:origin x="3042"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DE834AB-4A87-AF18-C8CA-A7E764D0E4E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DEB6CE-6460-9F62-49B4-5469BF33550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74EE442-DAB1-4866-835A-E7570069FEA6}" type="datetimeFigureOut">
              <a:rPr lang="en-US" smtClean="0"/>
              <a:t>2/14/2025</a:t>
            </a:fld>
            <a:endParaRPr lang="en-US"/>
          </a:p>
        </p:txBody>
      </p:sp>
      <p:sp>
        <p:nvSpPr>
          <p:cNvPr id="4" name="Footer Placeholder 3">
            <a:extLst>
              <a:ext uri="{FF2B5EF4-FFF2-40B4-BE49-F238E27FC236}">
                <a16:creationId xmlns:a16="http://schemas.microsoft.com/office/drawing/2014/main" id="{A12DF5AB-EFE5-2636-8469-64F6CD11841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5EDBFC5-1126-0508-C1FA-446BF9389F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1E840FE-8B94-45AA-ADDA-D20F098E814A}" type="slidenum">
              <a:rPr lang="en-US" smtClean="0"/>
              <a:t>‹#›</a:t>
            </a:fld>
            <a:endParaRPr lang="en-US"/>
          </a:p>
        </p:txBody>
      </p:sp>
    </p:spTree>
    <p:extLst>
      <p:ext uri="{BB962C8B-B14F-4D97-AF65-F5344CB8AC3E}">
        <p14:creationId xmlns:p14="http://schemas.microsoft.com/office/powerpoint/2010/main" val="173208300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9C7D2D-6CB4-44D2-B016-EF93E75575A7}" type="datetimeFigureOut">
              <a:rPr lang="en-US" smtClean="0"/>
              <a:t>2/14/2025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14E7CB-87E4-4199-8150-09E7DA4D2D52}" type="slidenum">
              <a:rPr lang="en-US" smtClean="0"/>
              <a:t>‹#›</a:t>
            </a:fld>
            <a:endParaRPr lang="en-US"/>
          </a:p>
        </p:txBody>
      </p:sp>
    </p:spTree>
    <p:extLst>
      <p:ext uri="{BB962C8B-B14F-4D97-AF65-F5344CB8AC3E}">
        <p14:creationId xmlns:p14="http://schemas.microsoft.com/office/powerpoint/2010/main" val="291986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poweredtemplate.com/membership/" TargetMode="External"/><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hyperlink" Target="https://poweredtemplate.com/"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hyperlink" Target="https://support.poweredtemplates.com/" TargetMode="Externa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hyperlink" Target="https://support.poweredtemplates.com/" TargetMode="External"/><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poweredtemplate.com/membership/" TargetMode="External"/><Relationship Id="rId2" Type="http://schemas.openxmlformats.org/officeDocument/2006/relationships/hyperlink" Target="https://poweredtemplate.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4219486-0569-4030-85B3-2DA7CACD022E}"/>
              </a:ext>
            </a:extLst>
          </p:cNvPr>
          <p:cNvSpPr>
            <a:spLocks noGrp="1"/>
          </p:cNvSpPr>
          <p:nvPr>
            <p:ph type="dt" sz="half" idx="10"/>
          </p:nvPr>
        </p:nvSpPr>
        <p:spPr/>
        <p:txBody>
          <a:bodyPr/>
          <a:lstStyle>
            <a:lvl1pPr>
              <a:defRPr>
                <a:solidFill>
                  <a:srgbClr val="FBF5E8"/>
                </a:solidFill>
              </a:defRPr>
            </a:lvl1pPr>
          </a:lstStyle>
          <a:p>
            <a:fld id="{A08A89E4-D00E-4618-BE4D-03035A2F693C}" type="datetime1">
              <a:rPr lang="en-US" smtClean="0"/>
              <a:pPr/>
              <a:t>2/14/2025</a:t>
            </a:fld>
            <a:endParaRPr lang="en-US"/>
          </a:p>
        </p:txBody>
      </p:sp>
      <p:sp>
        <p:nvSpPr>
          <p:cNvPr id="5" name="Footer Placeholder 4">
            <a:extLst>
              <a:ext uri="{FF2B5EF4-FFF2-40B4-BE49-F238E27FC236}">
                <a16:creationId xmlns:a16="http://schemas.microsoft.com/office/drawing/2014/main" id="{98134E95-3093-48D7-9A44-16A8A10E5FA6}"/>
              </a:ext>
            </a:extLst>
          </p:cNvPr>
          <p:cNvSpPr>
            <a:spLocks noGrp="1"/>
          </p:cNvSpPr>
          <p:nvPr>
            <p:ph type="ftr" sz="quarter" idx="11"/>
          </p:nvPr>
        </p:nvSpPr>
        <p:spPr/>
        <p:txBody>
          <a:bodyPr/>
          <a:lstStyle>
            <a:lvl1pPr>
              <a:defRPr>
                <a:solidFill>
                  <a:srgbClr val="FBF5E8"/>
                </a:solidFill>
              </a:defRPr>
            </a:lvl1pPr>
          </a:lstStyle>
          <a:p>
            <a:r>
              <a:rPr lang="en-US"/>
              <a:t>Designed by PoweredTemplate</a:t>
            </a:r>
          </a:p>
        </p:txBody>
      </p:sp>
      <p:sp>
        <p:nvSpPr>
          <p:cNvPr id="6" name="Slide Number Placeholder 5">
            <a:extLst>
              <a:ext uri="{FF2B5EF4-FFF2-40B4-BE49-F238E27FC236}">
                <a16:creationId xmlns:a16="http://schemas.microsoft.com/office/drawing/2014/main" id="{0ACBBDAD-9190-4926-B3E0-29B3C571CD83}"/>
              </a:ext>
            </a:extLst>
          </p:cNvPr>
          <p:cNvSpPr>
            <a:spLocks noGrp="1"/>
          </p:cNvSpPr>
          <p:nvPr>
            <p:ph type="sldNum" sz="quarter" idx="12"/>
          </p:nvPr>
        </p:nvSpPr>
        <p:spPr/>
        <p:txBody>
          <a:bodyPr/>
          <a:lstStyle>
            <a:lvl1pPr>
              <a:defRPr>
                <a:solidFill>
                  <a:srgbClr val="FBF5E8"/>
                </a:solidFill>
              </a:defRPr>
            </a:lvl1pPr>
          </a:lstStyle>
          <a:p>
            <a:fld id="{5F294920-2F4F-4D88-AD0A-053AE5A679D0}" type="slidenum">
              <a:rPr lang="en-US" smtClean="0"/>
              <a:pPr/>
              <a:t>‹#›</a:t>
            </a:fld>
            <a:endParaRPr lang="en-US"/>
          </a:p>
        </p:txBody>
      </p:sp>
      <p:sp>
        <p:nvSpPr>
          <p:cNvPr id="7" name="Title 7">
            <a:extLst>
              <a:ext uri="{FF2B5EF4-FFF2-40B4-BE49-F238E27FC236}">
                <a16:creationId xmlns:a16="http://schemas.microsoft.com/office/drawing/2014/main" id="{3901E25F-8781-5505-CFAA-15DF0267109A}"/>
              </a:ext>
            </a:extLst>
          </p:cNvPr>
          <p:cNvSpPr>
            <a:spLocks noGrp="1"/>
          </p:cNvSpPr>
          <p:nvPr>
            <p:ph type="ctrTitle"/>
          </p:nvPr>
        </p:nvSpPr>
        <p:spPr>
          <a:xfrm>
            <a:off x="838200" y="2312019"/>
            <a:ext cx="10515600" cy="868502"/>
          </a:xfrm>
        </p:spPr>
        <p:txBody>
          <a:bodyPr/>
          <a:lstStyle>
            <a:lvl1pPr algn="l">
              <a:defRPr b="1">
                <a:solidFill>
                  <a:srgbClr val="FBF5E8"/>
                </a:solidFill>
              </a:defRPr>
            </a:lvl1pPr>
          </a:lstStyle>
          <a:p>
            <a:pPr algn="l"/>
            <a:endParaRPr lang="en-US" dirty="0">
              <a:solidFill>
                <a:srgbClr val="011324"/>
              </a:solidFill>
            </a:endParaRPr>
          </a:p>
        </p:txBody>
      </p:sp>
      <p:sp>
        <p:nvSpPr>
          <p:cNvPr id="8" name="Subtitle 8">
            <a:extLst>
              <a:ext uri="{FF2B5EF4-FFF2-40B4-BE49-F238E27FC236}">
                <a16:creationId xmlns:a16="http://schemas.microsoft.com/office/drawing/2014/main" id="{7260C261-53D6-E321-957B-4237817247A4}"/>
              </a:ext>
            </a:extLst>
          </p:cNvPr>
          <p:cNvSpPr>
            <a:spLocks noGrp="1"/>
          </p:cNvSpPr>
          <p:nvPr>
            <p:ph type="subTitle" idx="1"/>
          </p:nvPr>
        </p:nvSpPr>
        <p:spPr>
          <a:xfrm>
            <a:off x="838200" y="3180521"/>
            <a:ext cx="10515600" cy="977832"/>
          </a:xfrm>
          <a:prstGeom prst="rect">
            <a:avLst/>
          </a:prstGeom>
        </p:spPr>
        <p:txBody>
          <a:bodyPr/>
          <a:lstStyle>
            <a:lvl1pPr marL="0" indent="0" algn="l">
              <a:buNone/>
              <a:defRPr>
                <a:solidFill>
                  <a:srgbClr val="FBF5E8"/>
                </a:solidFill>
              </a:defRPr>
            </a:lvl1pPr>
          </a:lstStyle>
          <a:p>
            <a:pPr algn="l"/>
            <a:endParaRPr lang="en-US" dirty="0">
              <a:solidFill>
                <a:srgbClr val="011324"/>
              </a:solidFill>
            </a:endParaRPr>
          </a:p>
        </p:txBody>
      </p:sp>
    </p:spTree>
    <p:extLst>
      <p:ext uri="{BB962C8B-B14F-4D97-AF65-F5344CB8AC3E}">
        <p14:creationId xmlns:p14="http://schemas.microsoft.com/office/powerpoint/2010/main" val="38698053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93C5C-19EA-4900-8526-9D5B2BE996A4}"/>
              </a:ext>
            </a:extLst>
          </p:cNvPr>
          <p:cNvSpPr>
            <a:spLocks noGrp="1"/>
          </p:cNvSpPr>
          <p:nvPr>
            <p:ph type="title"/>
          </p:nvPr>
        </p:nvSpPr>
        <p:spPr/>
        <p:txBody>
          <a:bodyPr/>
          <a:lstStyle>
            <a:lvl1pPr algn="l">
              <a:defRPr b="1">
                <a:solidFill>
                  <a:srgbClr val="FBF5E8"/>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1EA40E2F-3EC3-02DE-4675-241D18F5FEB6}"/>
              </a:ext>
            </a:extLst>
          </p:cNvPr>
          <p:cNvSpPr>
            <a:spLocks noGrp="1"/>
          </p:cNvSpPr>
          <p:nvPr>
            <p:ph idx="1"/>
          </p:nvPr>
        </p:nvSpPr>
        <p:spPr/>
        <p:txBody>
          <a:bodyPr/>
          <a:lstStyle>
            <a:lvl1pPr>
              <a:defRPr>
                <a:solidFill>
                  <a:srgbClr val="FBF5E8"/>
                </a:solidFill>
              </a:defRPr>
            </a:lvl1pPr>
            <a:lvl2pPr>
              <a:defRPr>
                <a:solidFill>
                  <a:srgbClr val="FBF5E8"/>
                </a:solidFill>
              </a:defRPr>
            </a:lvl2pPr>
            <a:lvl3pPr>
              <a:defRPr>
                <a:solidFill>
                  <a:srgbClr val="FBF5E8"/>
                </a:solidFill>
              </a:defRPr>
            </a:lvl3pPr>
            <a:lvl4pPr>
              <a:defRPr>
                <a:solidFill>
                  <a:srgbClr val="FBF5E8"/>
                </a:solidFill>
              </a:defRPr>
            </a:lvl4pPr>
            <a:lvl5pPr>
              <a:defRPr>
                <a:solidFill>
                  <a:srgbClr val="FBF5E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CD5BFDF-EA52-F42C-48A0-F2292EF26A88}"/>
              </a:ext>
            </a:extLst>
          </p:cNvPr>
          <p:cNvSpPr>
            <a:spLocks noGrp="1"/>
          </p:cNvSpPr>
          <p:nvPr>
            <p:ph type="dt" sz="half" idx="10"/>
          </p:nvPr>
        </p:nvSpPr>
        <p:spPr/>
        <p:txBody>
          <a:bodyPr/>
          <a:lstStyle>
            <a:lvl1pPr>
              <a:defRPr>
                <a:solidFill>
                  <a:srgbClr val="FBF5E8"/>
                </a:solidFill>
              </a:defRPr>
            </a:lvl1pPr>
          </a:lstStyle>
          <a:p>
            <a:fld id="{CB7FCE13-2E5A-43E1-ADBE-407260D5B4E3}" type="datetimeFigureOut">
              <a:rPr lang="en-US" smtClean="0"/>
              <a:pPr/>
              <a:t>2/14/2025</a:t>
            </a:fld>
            <a:endParaRPr lang="en-US"/>
          </a:p>
        </p:txBody>
      </p:sp>
      <p:sp>
        <p:nvSpPr>
          <p:cNvPr id="5" name="Footer Placeholder 4">
            <a:extLst>
              <a:ext uri="{FF2B5EF4-FFF2-40B4-BE49-F238E27FC236}">
                <a16:creationId xmlns:a16="http://schemas.microsoft.com/office/drawing/2014/main" id="{9783A033-9452-DEE2-B15D-E0BD7F9E32ED}"/>
              </a:ext>
            </a:extLst>
          </p:cNvPr>
          <p:cNvSpPr>
            <a:spLocks noGrp="1"/>
          </p:cNvSpPr>
          <p:nvPr>
            <p:ph type="ftr" sz="quarter" idx="11"/>
          </p:nvPr>
        </p:nvSpPr>
        <p:spPr/>
        <p:txBody>
          <a:bodyPr/>
          <a:lstStyle>
            <a:lvl1pPr>
              <a:defRPr>
                <a:solidFill>
                  <a:srgbClr val="FBF5E8"/>
                </a:solidFill>
              </a:defRPr>
            </a:lvl1pPr>
          </a:lstStyle>
          <a:p>
            <a:r>
              <a:rPr lang="en-US"/>
              <a:t>Designed by PoweredTemplate</a:t>
            </a:r>
            <a:endParaRPr lang="en-US" dirty="0"/>
          </a:p>
        </p:txBody>
      </p:sp>
      <p:sp>
        <p:nvSpPr>
          <p:cNvPr id="6" name="Slide Number Placeholder 5">
            <a:extLst>
              <a:ext uri="{FF2B5EF4-FFF2-40B4-BE49-F238E27FC236}">
                <a16:creationId xmlns:a16="http://schemas.microsoft.com/office/drawing/2014/main" id="{36C4F541-3CA3-9F48-E217-D4BF2C101A81}"/>
              </a:ext>
            </a:extLst>
          </p:cNvPr>
          <p:cNvSpPr>
            <a:spLocks noGrp="1"/>
          </p:cNvSpPr>
          <p:nvPr>
            <p:ph type="sldNum" sz="quarter" idx="12"/>
          </p:nvPr>
        </p:nvSpPr>
        <p:spPr/>
        <p:txBody>
          <a:bodyPr/>
          <a:lstStyle>
            <a:lvl1pPr>
              <a:defRPr>
                <a:solidFill>
                  <a:srgbClr val="FBF5E8"/>
                </a:solidFill>
              </a:defRPr>
            </a:lvl1pPr>
          </a:lstStyle>
          <a:p>
            <a:fld id="{D3A63EAC-D7D9-4CD6-8749-C9704CC6CD2D}" type="slidenum">
              <a:rPr lang="en-US" smtClean="0"/>
              <a:pPr/>
              <a:t>‹#›</a:t>
            </a:fld>
            <a:endParaRPr lang="en-US"/>
          </a:p>
        </p:txBody>
      </p:sp>
    </p:spTree>
    <p:extLst>
      <p:ext uri="{BB962C8B-B14F-4D97-AF65-F5344CB8AC3E}">
        <p14:creationId xmlns:p14="http://schemas.microsoft.com/office/powerpoint/2010/main" val="3360249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scount Co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63508C5-CD40-43FC-91BE-AE315C82C53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r="22394" b="31562"/>
          <a:stretch/>
        </p:blipFill>
        <p:spPr>
          <a:xfrm>
            <a:off x="1219973" y="9053"/>
            <a:ext cx="10972800" cy="6858000"/>
          </a:xfrm>
          <a:prstGeom prst="rect">
            <a:avLst/>
          </a:prstGeom>
          <a:effectLst>
            <a:outerShdw blurRad="50800" dist="127000" dir="5580000" algn="tl" rotWithShape="0">
              <a:prstClr val="black">
                <a:alpha val="40000"/>
              </a:prstClr>
            </a:outerShdw>
          </a:effectLst>
        </p:spPr>
      </p:pic>
      <p:sp>
        <p:nvSpPr>
          <p:cNvPr id="8" name="TextBox 7">
            <a:extLst>
              <a:ext uri="{FF2B5EF4-FFF2-40B4-BE49-F238E27FC236}">
                <a16:creationId xmlns:a16="http://schemas.microsoft.com/office/drawing/2014/main" id="{91A12868-18C3-45CE-913C-2324ED135B3E}"/>
              </a:ext>
            </a:extLst>
          </p:cNvPr>
          <p:cNvSpPr txBox="1"/>
          <p:nvPr userDrawn="1"/>
        </p:nvSpPr>
        <p:spPr>
          <a:xfrm>
            <a:off x="365760" y="640606"/>
            <a:ext cx="4233851" cy="1569660"/>
          </a:xfrm>
          <a:prstGeom prst="rect">
            <a:avLst/>
          </a:prstGeom>
          <a:noFill/>
        </p:spPr>
        <p:txBody>
          <a:bodyPr wrap="none" rtlCol="0">
            <a:spAutoFit/>
          </a:bodyPr>
          <a:lstStyle/>
          <a:p>
            <a:r>
              <a:rPr lang="en-US" sz="9600" b="1" dirty="0">
                <a:solidFill>
                  <a:schemeClr val="bg1"/>
                </a:solidFill>
              </a:rPr>
              <a:t>75,000+</a:t>
            </a:r>
          </a:p>
        </p:txBody>
      </p:sp>
      <p:sp>
        <p:nvSpPr>
          <p:cNvPr id="9" name="TextBox 8">
            <a:extLst>
              <a:ext uri="{FF2B5EF4-FFF2-40B4-BE49-F238E27FC236}">
                <a16:creationId xmlns:a16="http://schemas.microsoft.com/office/drawing/2014/main" id="{84FA829D-C768-4344-8C78-0DA322860027}"/>
              </a:ext>
            </a:extLst>
          </p:cNvPr>
          <p:cNvSpPr txBox="1"/>
          <p:nvPr userDrawn="1"/>
        </p:nvSpPr>
        <p:spPr>
          <a:xfrm>
            <a:off x="365760" y="2054810"/>
            <a:ext cx="6454588" cy="846386"/>
          </a:xfrm>
          <a:prstGeom prst="rect">
            <a:avLst/>
          </a:prstGeom>
          <a:noFill/>
        </p:spPr>
        <p:txBody>
          <a:bodyPr wrap="square" rtlCol="0">
            <a:spAutoFit/>
          </a:bodyPr>
          <a:lstStyle/>
          <a:p>
            <a:r>
              <a:rPr lang="en-US" sz="1650" b="1" dirty="0">
                <a:solidFill>
                  <a:schemeClr val="bg1"/>
                </a:solidFill>
              </a:rPr>
              <a:t>Eye-Catching Preformatted Editable Templates. </a:t>
            </a:r>
          </a:p>
          <a:p>
            <a:r>
              <a:rPr lang="en-US" sz="1600" b="1" dirty="0">
                <a:solidFill>
                  <a:schemeClr val="bg1"/>
                </a:solidFill>
              </a:rPr>
              <a:t>Download and save hours of work!</a:t>
            </a:r>
          </a:p>
          <a:p>
            <a:endParaRPr lang="en-US" sz="1650" b="1" dirty="0">
              <a:solidFill>
                <a:schemeClr val="bg1"/>
              </a:solidFill>
            </a:endParaRPr>
          </a:p>
        </p:txBody>
      </p:sp>
      <p:sp>
        <p:nvSpPr>
          <p:cNvPr id="11" name="Rectangle: Rounded Corners 10">
            <a:hlinkClick r:id="rId3"/>
            <a:extLst>
              <a:ext uri="{FF2B5EF4-FFF2-40B4-BE49-F238E27FC236}">
                <a16:creationId xmlns:a16="http://schemas.microsoft.com/office/drawing/2014/main" id="{4F7B3ABA-9806-4D2F-A4D8-60034F4423DC}"/>
              </a:ext>
            </a:extLst>
          </p:cNvPr>
          <p:cNvSpPr/>
          <p:nvPr userDrawn="1"/>
        </p:nvSpPr>
        <p:spPr>
          <a:xfrm>
            <a:off x="462582" y="4838931"/>
            <a:ext cx="1990165" cy="666974"/>
          </a:xfrm>
          <a:prstGeom prst="roundRect">
            <a:avLst/>
          </a:prstGeom>
          <a:noFill/>
          <a:ln w="9525"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dirty="0">
                <a:solidFill>
                  <a:schemeClr val="bg1"/>
                </a:solidFill>
              </a:rPr>
              <a:t>CODE: </a:t>
            </a:r>
            <a:r>
              <a:rPr lang="en-US" b="1" dirty="0">
                <a:solidFill>
                  <a:schemeClr val="bg1"/>
                </a:solidFill>
              </a:rPr>
              <a:t>ANNUAL30</a:t>
            </a:r>
          </a:p>
        </p:txBody>
      </p:sp>
      <p:sp>
        <p:nvSpPr>
          <p:cNvPr id="12" name="TextBox 11">
            <a:extLst>
              <a:ext uri="{FF2B5EF4-FFF2-40B4-BE49-F238E27FC236}">
                <a16:creationId xmlns:a16="http://schemas.microsoft.com/office/drawing/2014/main" id="{B51BC1C8-4637-49A2-9CE4-11B4417003C5}"/>
              </a:ext>
            </a:extLst>
          </p:cNvPr>
          <p:cNvSpPr txBox="1"/>
          <p:nvPr userDrawn="1"/>
        </p:nvSpPr>
        <p:spPr>
          <a:xfrm>
            <a:off x="365760" y="4018149"/>
            <a:ext cx="4233851" cy="1077218"/>
          </a:xfrm>
          <a:prstGeom prst="rect">
            <a:avLst/>
          </a:prstGeom>
          <a:noFill/>
        </p:spPr>
        <p:txBody>
          <a:bodyPr wrap="square" rtlCol="0">
            <a:spAutoFit/>
          </a:bodyPr>
          <a:lstStyle/>
          <a:p>
            <a:r>
              <a:rPr lang="en-US" sz="2400" b="1" dirty="0">
                <a:solidFill>
                  <a:schemeClr val="bg1"/>
                </a:solidFill>
              </a:rPr>
              <a:t>30% OFF</a:t>
            </a:r>
          </a:p>
          <a:p>
            <a:r>
              <a:rPr lang="en-US" sz="2000" b="1" dirty="0">
                <a:solidFill>
                  <a:schemeClr val="bg1"/>
                </a:solidFill>
              </a:rPr>
              <a:t>Your Annual Membership Plan</a:t>
            </a:r>
          </a:p>
          <a:p>
            <a:endParaRPr lang="en-US" sz="2000" b="1" dirty="0">
              <a:solidFill>
                <a:schemeClr val="bg1"/>
              </a:solidFill>
            </a:endParaRPr>
          </a:p>
        </p:txBody>
      </p:sp>
      <p:pic>
        <p:nvPicPr>
          <p:cNvPr id="13" name="Picture 12" descr="A picture containing drawing&#10;&#10;Description automatically generated">
            <a:hlinkClick r:id="rId4"/>
            <a:extLst>
              <a:ext uri="{FF2B5EF4-FFF2-40B4-BE49-F238E27FC236}">
                <a16:creationId xmlns:a16="http://schemas.microsoft.com/office/drawing/2014/main" id="{4A46969A-FFB5-4780-B760-9DA8346DC08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62582" y="311254"/>
            <a:ext cx="3469677" cy="446356"/>
          </a:xfrm>
          <a:prstGeom prst="rect">
            <a:avLst/>
          </a:prstGeom>
        </p:spPr>
      </p:pic>
      <p:sp>
        <p:nvSpPr>
          <p:cNvPr id="14" name="TextBox 13">
            <a:extLst>
              <a:ext uri="{FF2B5EF4-FFF2-40B4-BE49-F238E27FC236}">
                <a16:creationId xmlns:a16="http://schemas.microsoft.com/office/drawing/2014/main" id="{F7AF0BAD-AA16-4E7B-9A2E-B9B65B8C5148}"/>
              </a:ext>
            </a:extLst>
          </p:cNvPr>
          <p:cNvSpPr txBox="1"/>
          <p:nvPr userDrawn="1"/>
        </p:nvSpPr>
        <p:spPr>
          <a:xfrm>
            <a:off x="365760" y="5582373"/>
            <a:ext cx="1926105" cy="276999"/>
          </a:xfrm>
          <a:prstGeom prst="rect">
            <a:avLst/>
          </a:prstGeom>
          <a:noFill/>
        </p:spPr>
        <p:txBody>
          <a:bodyPr wrap="none" rtlCol="0">
            <a:spAutoFit/>
          </a:bodyPr>
          <a:lstStyle/>
          <a:p>
            <a:r>
              <a:rPr lang="en-US" sz="1200" dirty="0">
                <a:solidFill>
                  <a:schemeClr val="bg1"/>
                </a:solidFill>
                <a:hlinkClick r:id="rId4">
                  <a:extLst>
                    <a:ext uri="{A12FA001-AC4F-418D-AE19-62706E023703}">
                      <ahyp:hlinkClr xmlns:ahyp="http://schemas.microsoft.com/office/drawing/2018/hyperlinkcolor" val="tx"/>
                    </a:ext>
                  </a:extLst>
                </a:hlinkClick>
              </a:rPr>
              <a:t>Visit PoweredTemplate.com</a:t>
            </a:r>
            <a:endParaRPr lang="en-US" sz="1200" dirty="0">
              <a:solidFill>
                <a:schemeClr val="bg1"/>
              </a:solidFill>
            </a:endParaRPr>
          </a:p>
        </p:txBody>
      </p:sp>
      <p:sp>
        <p:nvSpPr>
          <p:cNvPr id="16" name="TextBox 15">
            <a:extLst>
              <a:ext uri="{FF2B5EF4-FFF2-40B4-BE49-F238E27FC236}">
                <a16:creationId xmlns:a16="http://schemas.microsoft.com/office/drawing/2014/main" id="{30B8F122-6416-4D76-994E-2100532D83F2}"/>
              </a:ext>
            </a:extLst>
          </p:cNvPr>
          <p:cNvSpPr txBox="1"/>
          <p:nvPr userDrawn="1"/>
        </p:nvSpPr>
        <p:spPr>
          <a:xfrm>
            <a:off x="560226" y="2839851"/>
            <a:ext cx="6260122" cy="923330"/>
          </a:xfrm>
          <a:prstGeom prst="rect">
            <a:avLst/>
          </a:prstGeom>
          <a:noFill/>
        </p:spPr>
        <p:txBody>
          <a:bodyPr wrap="square">
            <a:spAutoFit/>
          </a:bodyPr>
          <a:lstStyle/>
          <a:p>
            <a:pPr marL="285750" indent="-285750">
              <a:buFont typeface="Arial" panose="020B0604020202020204" pitchFamily="34" charset="0"/>
              <a:buChar char="•"/>
            </a:pPr>
            <a:r>
              <a:rPr lang="en-US" sz="1800" b="1" dirty="0">
                <a:solidFill>
                  <a:schemeClr val="bg1"/>
                </a:solidFill>
              </a:rPr>
              <a:t>Easy to use</a:t>
            </a:r>
          </a:p>
          <a:p>
            <a:pPr marL="285750" indent="-285750">
              <a:buFont typeface="Arial" panose="020B0604020202020204" pitchFamily="34" charset="0"/>
              <a:buChar char="•"/>
            </a:pPr>
            <a:r>
              <a:rPr lang="en-US" sz="1800" b="1" dirty="0">
                <a:solidFill>
                  <a:schemeClr val="bg1"/>
                </a:solidFill>
              </a:rPr>
              <a:t>Fully customizable</a:t>
            </a:r>
          </a:p>
          <a:p>
            <a:pPr marL="285750" indent="-285750">
              <a:buFont typeface="Arial" panose="020B0604020202020204" pitchFamily="34" charset="0"/>
              <a:buChar char="•"/>
            </a:pPr>
            <a:r>
              <a:rPr lang="en-US" sz="1800" b="1" dirty="0">
                <a:solidFill>
                  <a:schemeClr val="bg1"/>
                </a:solidFill>
              </a:rPr>
              <a:t>Cutting edge designs</a:t>
            </a:r>
          </a:p>
        </p:txBody>
      </p:sp>
    </p:spTree>
    <p:extLst>
      <p:ext uri="{BB962C8B-B14F-4D97-AF65-F5344CB8AC3E}">
        <p14:creationId xmlns:p14="http://schemas.microsoft.com/office/powerpoint/2010/main" val="26764917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nge Shape Color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4574659-E987-4DF2-B5E8-595FCA84C804}"/>
              </a:ext>
            </a:extLst>
          </p:cNvPr>
          <p:cNvSpPr>
            <a:spLocks noGrp="1"/>
          </p:cNvSpPr>
          <p:nvPr>
            <p:ph type="dt" sz="half" idx="10"/>
          </p:nvPr>
        </p:nvSpPr>
        <p:spPr/>
        <p:txBody>
          <a:bodyPr/>
          <a:lstStyle/>
          <a:p>
            <a:fld id="{A1ACEE5C-337C-40CA-959B-6F3EBBDE2995}" type="datetime1">
              <a:rPr lang="en-US" smtClean="0"/>
              <a:t>2/14/2025</a:t>
            </a:fld>
            <a:endParaRPr lang="en-US"/>
          </a:p>
        </p:txBody>
      </p:sp>
      <p:sp>
        <p:nvSpPr>
          <p:cNvPr id="4" name="Footer Placeholder 3">
            <a:extLst>
              <a:ext uri="{FF2B5EF4-FFF2-40B4-BE49-F238E27FC236}">
                <a16:creationId xmlns:a16="http://schemas.microsoft.com/office/drawing/2014/main" id="{B7F951F1-731E-4292-AE86-5B4C0EF93D88}"/>
              </a:ext>
            </a:extLst>
          </p:cNvPr>
          <p:cNvSpPr>
            <a:spLocks noGrp="1"/>
          </p:cNvSpPr>
          <p:nvPr>
            <p:ph type="ftr" sz="quarter" idx="11"/>
          </p:nvPr>
        </p:nvSpPr>
        <p:spPr/>
        <p:txBody>
          <a:bodyPr/>
          <a:lstStyle/>
          <a:p>
            <a:r>
              <a:rPr lang="en-US"/>
              <a:t>Designed by PoweredTemplate</a:t>
            </a:r>
          </a:p>
        </p:txBody>
      </p:sp>
      <p:sp>
        <p:nvSpPr>
          <p:cNvPr id="5" name="Slide Number Placeholder 4">
            <a:extLst>
              <a:ext uri="{FF2B5EF4-FFF2-40B4-BE49-F238E27FC236}">
                <a16:creationId xmlns:a16="http://schemas.microsoft.com/office/drawing/2014/main" id="{2CD72513-79A3-4467-A0A6-9515BD85E927}"/>
              </a:ext>
            </a:extLst>
          </p:cNvPr>
          <p:cNvSpPr>
            <a:spLocks noGrp="1"/>
          </p:cNvSpPr>
          <p:nvPr>
            <p:ph type="sldNum" sz="quarter" idx="12"/>
          </p:nvPr>
        </p:nvSpPr>
        <p:spPr/>
        <p:txBody>
          <a:bodyPr/>
          <a:lstStyle/>
          <a:p>
            <a:fld id="{5F294920-2F4F-4D88-AD0A-053AE5A679D0}" type="slidenum">
              <a:rPr lang="en-US" smtClean="0"/>
              <a:t>‹#›</a:t>
            </a:fld>
            <a:endParaRPr lang="en-US"/>
          </a:p>
        </p:txBody>
      </p:sp>
      <p:pic>
        <p:nvPicPr>
          <p:cNvPr id="7" name="Picture 6">
            <a:extLst>
              <a:ext uri="{FF2B5EF4-FFF2-40B4-BE49-F238E27FC236}">
                <a16:creationId xmlns:a16="http://schemas.microsoft.com/office/drawing/2014/main" id="{54AEF03F-034D-4215-A273-A01F5F2D751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41988" y="2860069"/>
            <a:ext cx="2499399" cy="2600325"/>
          </a:xfrm>
          <a:prstGeom prst="rect">
            <a:avLst/>
          </a:prstGeom>
        </p:spPr>
      </p:pic>
      <p:pic>
        <p:nvPicPr>
          <p:cNvPr id="8" name="Picture 7" descr="A screenshot of a cell phone&#10;&#10;Description automatically generated">
            <a:extLst>
              <a:ext uri="{FF2B5EF4-FFF2-40B4-BE49-F238E27FC236}">
                <a16:creationId xmlns:a16="http://schemas.microsoft.com/office/drawing/2014/main" id="{5D7DED3E-3991-416F-84A5-540CFD3EDEA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73749" y="2348150"/>
            <a:ext cx="1305764" cy="3674627"/>
          </a:xfrm>
          <a:prstGeom prst="rect">
            <a:avLst/>
          </a:prstGeom>
        </p:spPr>
      </p:pic>
      <p:pic>
        <p:nvPicPr>
          <p:cNvPr id="9" name="Picture 8" descr="A screenshot of a cell phone&#10;&#10;Description automatically generated">
            <a:extLst>
              <a:ext uri="{FF2B5EF4-FFF2-40B4-BE49-F238E27FC236}">
                <a16:creationId xmlns:a16="http://schemas.microsoft.com/office/drawing/2014/main" id="{7A03580F-A44C-4A92-81E6-CA80F5A976D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630255" y="2426974"/>
            <a:ext cx="2598494" cy="3595803"/>
          </a:xfrm>
          <a:prstGeom prst="rect">
            <a:avLst/>
          </a:prstGeom>
        </p:spPr>
      </p:pic>
      <p:sp>
        <p:nvSpPr>
          <p:cNvPr id="10" name="Content Placeholder 2">
            <a:extLst>
              <a:ext uri="{FF2B5EF4-FFF2-40B4-BE49-F238E27FC236}">
                <a16:creationId xmlns:a16="http://schemas.microsoft.com/office/drawing/2014/main" id="{344A8CE7-EEE7-4CD6-B48D-A8C8E93A95BA}"/>
              </a:ext>
            </a:extLst>
          </p:cNvPr>
          <p:cNvSpPr txBox="1">
            <a:spLocks/>
          </p:cNvSpPr>
          <p:nvPr userDrawn="1"/>
        </p:nvSpPr>
        <p:spPr>
          <a:xfrm>
            <a:off x="838200" y="2536214"/>
            <a:ext cx="3524250" cy="36746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fontAlgn="base">
              <a:buFont typeface="+mj-lt"/>
              <a:buAutoNum type="arabicPeriod"/>
            </a:pPr>
            <a:r>
              <a:rPr lang="en-US" sz="2000" dirty="0">
                <a:solidFill>
                  <a:schemeClr val="bg1">
                    <a:lumMod val="50000"/>
                  </a:schemeClr>
                </a:solidFill>
                <a:latin typeface="Calibri" panose="020F0502020204030204" pitchFamily="34" charset="0"/>
                <a:cs typeface="Calibri" panose="020F0502020204030204" pitchFamily="34" charset="0"/>
              </a:rPr>
              <a:t>Right click on the object you want to change the color of.</a:t>
            </a:r>
          </a:p>
          <a:p>
            <a:pPr marL="457200" indent="-457200" fontAlgn="base">
              <a:buFont typeface="+mj-lt"/>
              <a:buAutoNum type="arabicPeriod"/>
            </a:pPr>
            <a:r>
              <a:rPr lang="en-US" sz="2000" dirty="0">
                <a:solidFill>
                  <a:schemeClr val="bg1">
                    <a:lumMod val="50000"/>
                  </a:schemeClr>
                </a:solidFill>
                <a:latin typeface="Calibri" panose="020F0502020204030204" pitchFamily="34" charset="0"/>
                <a:cs typeface="Calibri" panose="020F0502020204030204" pitchFamily="34" charset="0"/>
              </a:rPr>
              <a:t>Choose Format Shape in drop down menu.</a:t>
            </a:r>
          </a:p>
          <a:p>
            <a:pPr marL="457200" indent="-457200" fontAlgn="base">
              <a:buFont typeface="+mj-lt"/>
              <a:buAutoNum type="arabicPeriod"/>
            </a:pPr>
            <a:r>
              <a:rPr lang="en-US" sz="2000" dirty="0">
                <a:solidFill>
                  <a:schemeClr val="bg1">
                    <a:lumMod val="50000"/>
                  </a:schemeClr>
                </a:solidFill>
                <a:latin typeface="Calibri" panose="020F0502020204030204" pitchFamily="34" charset="0"/>
                <a:cs typeface="Calibri" panose="020F0502020204030204" pitchFamily="34" charset="0"/>
              </a:rPr>
              <a:t>Choose "Fill" in the Format Shape box then "Solid" or "Gradient" depending on the appearance of the object. Click on a new color.</a:t>
            </a:r>
          </a:p>
        </p:txBody>
      </p:sp>
      <p:sp>
        <p:nvSpPr>
          <p:cNvPr id="13" name="TextBox 12">
            <a:extLst>
              <a:ext uri="{FF2B5EF4-FFF2-40B4-BE49-F238E27FC236}">
                <a16:creationId xmlns:a16="http://schemas.microsoft.com/office/drawing/2014/main" id="{961C337C-A9C1-4644-976F-50B8D83D4D92}"/>
              </a:ext>
            </a:extLst>
          </p:cNvPr>
          <p:cNvSpPr txBox="1"/>
          <p:nvPr userDrawn="1"/>
        </p:nvSpPr>
        <p:spPr>
          <a:xfrm>
            <a:off x="838199" y="1279311"/>
            <a:ext cx="10515599" cy="923330"/>
          </a:xfrm>
          <a:prstGeom prst="rect">
            <a:avLst/>
          </a:prstGeom>
          <a:noFill/>
        </p:spPr>
        <p:txBody>
          <a:bodyPr wrap="square">
            <a:spAutoFit/>
          </a:bodyPr>
          <a:lstStyle/>
          <a:p>
            <a:pPr marL="0" indent="0" fontAlgn="base">
              <a:buNone/>
            </a:pPr>
            <a:r>
              <a:rPr lang="en-US" sz="1800" dirty="0">
                <a:solidFill>
                  <a:schemeClr val="bg1">
                    <a:lumMod val="50000"/>
                  </a:schemeClr>
                </a:solidFill>
              </a:rPr>
              <a:t>The presentation template has been made in PowerPoint itself, and you can edit the color of any component in this graphics. To change the color, just right click the object to highlight it, and then follow the instructions. In case on any questions please visit our </a:t>
            </a:r>
            <a:r>
              <a:rPr lang="en-US" sz="1800" dirty="0">
                <a:solidFill>
                  <a:srgbClr val="0070C0"/>
                </a:solidFill>
                <a:hlinkClick r:id="rId5">
                  <a:extLst>
                    <a:ext uri="{A12FA001-AC4F-418D-AE19-62706E023703}">
                      <ahyp:hlinkClr xmlns:ahyp="http://schemas.microsoft.com/office/drawing/2018/hyperlinkcolor" val="tx"/>
                    </a:ext>
                  </a:extLst>
                </a:hlinkClick>
              </a:rPr>
              <a:t>Help Center</a:t>
            </a:r>
            <a:r>
              <a:rPr lang="en-US" sz="1800" dirty="0">
                <a:solidFill>
                  <a:schemeClr val="bg1">
                    <a:lumMod val="50000"/>
                  </a:schemeClr>
                </a:solidFill>
              </a:rPr>
              <a:t>.</a:t>
            </a:r>
          </a:p>
        </p:txBody>
      </p:sp>
      <p:sp>
        <p:nvSpPr>
          <p:cNvPr id="15" name="TextBox 14">
            <a:extLst>
              <a:ext uri="{FF2B5EF4-FFF2-40B4-BE49-F238E27FC236}">
                <a16:creationId xmlns:a16="http://schemas.microsoft.com/office/drawing/2014/main" id="{0C7D635A-46E2-4AB8-A258-5E0FAB112680}"/>
              </a:ext>
            </a:extLst>
          </p:cNvPr>
          <p:cNvSpPr txBox="1"/>
          <p:nvPr userDrawn="1"/>
        </p:nvSpPr>
        <p:spPr>
          <a:xfrm>
            <a:off x="838199" y="136525"/>
            <a:ext cx="10390550" cy="769441"/>
          </a:xfrm>
          <a:prstGeom prst="rect">
            <a:avLst/>
          </a:prstGeom>
          <a:noFill/>
        </p:spPr>
        <p:txBody>
          <a:bodyPr wrap="square">
            <a:spAutoFit/>
          </a:bodyPr>
          <a:lstStyle/>
          <a:p>
            <a:r>
              <a:rPr lang="en-US" sz="4400" dirty="0">
                <a:solidFill>
                  <a:schemeClr val="bg1">
                    <a:lumMod val="50000"/>
                  </a:schemeClr>
                </a:solidFill>
                <a:latin typeface="Calibri Light (Headings)"/>
              </a:rPr>
              <a:t>Change Shapes Colors</a:t>
            </a:r>
          </a:p>
        </p:txBody>
      </p:sp>
    </p:spTree>
    <p:extLst>
      <p:ext uri="{BB962C8B-B14F-4D97-AF65-F5344CB8AC3E}">
        <p14:creationId xmlns:p14="http://schemas.microsoft.com/office/powerpoint/2010/main" val="7398431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dit Shap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520F4BD-C5A8-4F1F-A0D9-19D60284BD9C}"/>
              </a:ext>
            </a:extLst>
          </p:cNvPr>
          <p:cNvSpPr>
            <a:spLocks noGrp="1"/>
          </p:cNvSpPr>
          <p:nvPr>
            <p:ph type="dt" sz="half" idx="10"/>
          </p:nvPr>
        </p:nvSpPr>
        <p:spPr/>
        <p:txBody>
          <a:bodyPr/>
          <a:lstStyle/>
          <a:p>
            <a:fld id="{A1ACEE5C-337C-40CA-959B-6F3EBBDE2995}" type="datetime1">
              <a:rPr lang="en-US" smtClean="0"/>
              <a:t>2/14/2025</a:t>
            </a:fld>
            <a:endParaRPr lang="en-US"/>
          </a:p>
        </p:txBody>
      </p:sp>
      <p:sp>
        <p:nvSpPr>
          <p:cNvPr id="4" name="Footer Placeholder 3">
            <a:extLst>
              <a:ext uri="{FF2B5EF4-FFF2-40B4-BE49-F238E27FC236}">
                <a16:creationId xmlns:a16="http://schemas.microsoft.com/office/drawing/2014/main" id="{6008166A-4A7E-4790-920B-78B04E9C5026}"/>
              </a:ext>
            </a:extLst>
          </p:cNvPr>
          <p:cNvSpPr>
            <a:spLocks noGrp="1"/>
          </p:cNvSpPr>
          <p:nvPr>
            <p:ph type="ftr" sz="quarter" idx="11"/>
          </p:nvPr>
        </p:nvSpPr>
        <p:spPr/>
        <p:txBody>
          <a:bodyPr/>
          <a:lstStyle/>
          <a:p>
            <a:r>
              <a:rPr lang="en-US"/>
              <a:t>Designed by PoweredTemplate</a:t>
            </a:r>
          </a:p>
        </p:txBody>
      </p:sp>
      <p:sp>
        <p:nvSpPr>
          <p:cNvPr id="5" name="Slide Number Placeholder 4">
            <a:extLst>
              <a:ext uri="{FF2B5EF4-FFF2-40B4-BE49-F238E27FC236}">
                <a16:creationId xmlns:a16="http://schemas.microsoft.com/office/drawing/2014/main" id="{37DFCCF7-6B3D-4C2E-8267-011D9046F168}"/>
              </a:ext>
            </a:extLst>
          </p:cNvPr>
          <p:cNvSpPr>
            <a:spLocks noGrp="1"/>
          </p:cNvSpPr>
          <p:nvPr>
            <p:ph type="sldNum" sz="quarter" idx="12"/>
          </p:nvPr>
        </p:nvSpPr>
        <p:spPr/>
        <p:txBody>
          <a:bodyPr/>
          <a:lstStyle/>
          <a:p>
            <a:fld id="{5F294920-2F4F-4D88-AD0A-053AE5A679D0}" type="slidenum">
              <a:rPr lang="en-US" smtClean="0"/>
              <a:t>‹#›</a:t>
            </a:fld>
            <a:endParaRPr lang="en-US"/>
          </a:p>
        </p:txBody>
      </p:sp>
      <p:pic>
        <p:nvPicPr>
          <p:cNvPr id="7" name="Picture 6">
            <a:extLst>
              <a:ext uri="{FF2B5EF4-FFF2-40B4-BE49-F238E27FC236}">
                <a16:creationId xmlns:a16="http://schemas.microsoft.com/office/drawing/2014/main" id="{D40618CB-03AE-4EC1-AA56-38735DB798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403099" y="2855356"/>
            <a:ext cx="2499399" cy="2600325"/>
          </a:xfrm>
          <a:prstGeom prst="rect">
            <a:avLst/>
          </a:prstGeom>
        </p:spPr>
      </p:pic>
      <p:pic>
        <p:nvPicPr>
          <p:cNvPr id="8" name="Picture 7" descr="A close up of a sign&#10;&#10;Description automatically generated">
            <a:extLst>
              <a:ext uri="{FF2B5EF4-FFF2-40B4-BE49-F238E27FC236}">
                <a16:creationId xmlns:a16="http://schemas.microsoft.com/office/drawing/2014/main" id="{C648B40F-D186-4772-A1C2-55774966B1B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501581" y="2797831"/>
            <a:ext cx="2499399" cy="2600325"/>
          </a:xfrm>
          <a:prstGeom prst="rect">
            <a:avLst/>
          </a:prstGeom>
        </p:spPr>
      </p:pic>
      <p:pic>
        <p:nvPicPr>
          <p:cNvPr id="9" name="Picture 8" descr="A screenshot of a cell phone&#10;&#10;Description automatically generated">
            <a:extLst>
              <a:ext uri="{FF2B5EF4-FFF2-40B4-BE49-F238E27FC236}">
                <a16:creationId xmlns:a16="http://schemas.microsoft.com/office/drawing/2014/main" id="{B0A31E51-6593-4B6F-916A-BBF0646CAFE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903700" y="1924971"/>
            <a:ext cx="2499399" cy="4075817"/>
          </a:xfrm>
          <a:prstGeom prst="rect">
            <a:avLst/>
          </a:prstGeom>
        </p:spPr>
      </p:pic>
      <p:sp>
        <p:nvSpPr>
          <p:cNvPr id="10" name="Content Placeholder 2">
            <a:extLst>
              <a:ext uri="{FF2B5EF4-FFF2-40B4-BE49-F238E27FC236}">
                <a16:creationId xmlns:a16="http://schemas.microsoft.com/office/drawing/2014/main" id="{32E9F2D2-EAF0-428B-AA83-2F90E2526315}"/>
              </a:ext>
            </a:extLst>
          </p:cNvPr>
          <p:cNvSpPr txBox="1">
            <a:spLocks/>
          </p:cNvSpPr>
          <p:nvPr userDrawn="1"/>
        </p:nvSpPr>
        <p:spPr>
          <a:xfrm>
            <a:off x="838200" y="2536214"/>
            <a:ext cx="3524250" cy="36746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fontAlgn="base">
              <a:buFont typeface="+mj-lt"/>
              <a:buAutoNum type="arabicPeriod"/>
            </a:pPr>
            <a:r>
              <a:rPr lang="en-US" sz="2000" dirty="0">
                <a:solidFill>
                  <a:schemeClr val="bg1">
                    <a:lumMod val="50000"/>
                  </a:schemeClr>
                </a:solidFill>
                <a:latin typeface="Calibri" panose="020F0502020204030204" pitchFamily="34" charset="0"/>
                <a:cs typeface="Calibri" panose="020F0502020204030204" pitchFamily="34" charset="0"/>
              </a:rPr>
              <a:t>Right click on the object you want to modify.</a:t>
            </a:r>
          </a:p>
          <a:p>
            <a:pPr marL="457200" indent="-457200" fontAlgn="base">
              <a:buFont typeface="+mj-lt"/>
              <a:buAutoNum type="arabicPeriod"/>
            </a:pPr>
            <a:r>
              <a:rPr lang="en-US" sz="2000" dirty="0">
                <a:solidFill>
                  <a:schemeClr val="bg1">
                    <a:lumMod val="50000"/>
                  </a:schemeClr>
                </a:solidFill>
                <a:latin typeface="Calibri" panose="020F0502020204030204" pitchFamily="34" charset="0"/>
                <a:cs typeface="Calibri" panose="020F0502020204030204" pitchFamily="34" charset="0"/>
              </a:rPr>
              <a:t>Choose Group -&gt; Ungroup in drop down menu.</a:t>
            </a:r>
          </a:p>
          <a:p>
            <a:pPr marL="457200" indent="-457200" fontAlgn="base">
              <a:buFont typeface="+mj-lt"/>
              <a:buAutoNum type="arabicPeriod"/>
            </a:pPr>
            <a:r>
              <a:rPr lang="en-US" sz="2000" dirty="0">
                <a:solidFill>
                  <a:schemeClr val="bg1">
                    <a:lumMod val="50000"/>
                  </a:schemeClr>
                </a:solidFill>
                <a:latin typeface="Calibri" panose="020F0502020204030204" pitchFamily="34" charset="0"/>
                <a:cs typeface="Calibri" panose="020F0502020204030204" pitchFamily="34" charset="0"/>
              </a:rPr>
              <a:t>Click on any objects and shapes to start working with it.</a:t>
            </a:r>
          </a:p>
          <a:p>
            <a:pPr marL="457200" indent="-457200" fontAlgn="base">
              <a:buFont typeface="+mj-lt"/>
              <a:buAutoNum type="arabicPeriod"/>
            </a:pPr>
            <a:r>
              <a:rPr lang="en-US" sz="2000" dirty="0">
                <a:solidFill>
                  <a:schemeClr val="bg1">
                    <a:lumMod val="50000"/>
                  </a:schemeClr>
                </a:solidFill>
                <a:latin typeface="Calibri" panose="020F0502020204030204" pitchFamily="34" charset="0"/>
                <a:cs typeface="Calibri" panose="020F0502020204030204" pitchFamily="34" charset="0"/>
              </a:rPr>
              <a:t>When you finish, select all objects you want to group and choose Group -&gt; Group in the menu.</a:t>
            </a:r>
          </a:p>
        </p:txBody>
      </p:sp>
      <p:sp>
        <p:nvSpPr>
          <p:cNvPr id="13" name="TextBox 12">
            <a:extLst>
              <a:ext uri="{FF2B5EF4-FFF2-40B4-BE49-F238E27FC236}">
                <a16:creationId xmlns:a16="http://schemas.microsoft.com/office/drawing/2014/main" id="{1D558D59-02BD-4D4D-9F02-47EAB9C54D8E}"/>
              </a:ext>
            </a:extLst>
          </p:cNvPr>
          <p:cNvSpPr txBox="1"/>
          <p:nvPr userDrawn="1"/>
        </p:nvSpPr>
        <p:spPr>
          <a:xfrm>
            <a:off x="838200" y="1318160"/>
            <a:ext cx="10515600" cy="646331"/>
          </a:xfrm>
          <a:prstGeom prst="rect">
            <a:avLst/>
          </a:prstGeom>
          <a:noFill/>
        </p:spPr>
        <p:txBody>
          <a:bodyPr wrap="square">
            <a:spAutoFit/>
          </a:bodyPr>
          <a:lstStyle/>
          <a:p>
            <a:pPr marL="0" indent="0" fontAlgn="base">
              <a:buNone/>
            </a:pPr>
            <a:r>
              <a:rPr lang="en-US" sz="1800" dirty="0">
                <a:solidFill>
                  <a:schemeClr val="bg1">
                    <a:lumMod val="50000"/>
                  </a:schemeClr>
                </a:solidFill>
              </a:rPr>
              <a:t>You may edit the shapes in your own: remove, resize, rotate, and copy to a new slide. In case on any questions please visit our </a:t>
            </a:r>
            <a:r>
              <a:rPr lang="en-US" sz="1800" dirty="0">
                <a:solidFill>
                  <a:srgbClr val="0070C0"/>
                </a:solidFill>
                <a:hlinkClick r:id="rId5">
                  <a:extLst>
                    <a:ext uri="{A12FA001-AC4F-418D-AE19-62706E023703}">
                      <ahyp:hlinkClr xmlns:ahyp="http://schemas.microsoft.com/office/drawing/2018/hyperlinkcolor" val="tx"/>
                    </a:ext>
                  </a:extLst>
                </a:hlinkClick>
              </a:rPr>
              <a:t>Help Center</a:t>
            </a:r>
            <a:r>
              <a:rPr lang="en-US" sz="1800" dirty="0">
                <a:solidFill>
                  <a:schemeClr val="bg1">
                    <a:lumMod val="50000"/>
                  </a:schemeClr>
                </a:solidFill>
              </a:rPr>
              <a:t>.</a:t>
            </a:r>
          </a:p>
        </p:txBody>
      </p:sp>
      <p:sp>
        <p:nvSpPr>
          <p:cNvPr id="14" name="TextBox 13">
            <a:extLst>
              <a:ext uri="{FF2B5EF4-FFF2-40B4-BE49-F238E27FC236}">
                <a16:creationId xmlns:a16="http://schemas.microsoft.com/office/drawing/2014/main" id="{C58E6621-792A-478B-9846-879013E51B1A}"/>
              </a:ext>
            </a:extLst>
          </p:cNvPr>
          <p:cNvSpPr txBox="1"/>
          <p:nvPr userDrawn="1"/>
        </p:nvSpPr>
        <p:spPr>
          <a:xfrm>
            <a:off x="838199" y="136525"/>
            <a:ext cx="10390550" cy="769441"/>
          </a:xfrm>
          <a:prstGeom prst="rect">
            <a:avLst/>
          </a:prstGeom>
          <a:noFill/>
        </p:spPr>
        <p:txBody>
          <a:bodyPr wrap="square">
            <a:spAutoFit/>
          </a:bodyPr>
          <a:lstStyle/>
          <a:p>
            <a:r>
              <a:rPr lang="en-US" sz="4400" dirty="0">
                <a:solidFill>
                  <a:schemeClr val="bg1">
                    <a:lumMod val="50000"/>
                  </a:schemeClr>
                </a:solidFill>
                <a:latin typeface="Calibri Light (Headings)"/>
              </a:rPr>
              <a:t>Edit Shapes</a:t>
            </a:r>
          </a:p>
        </p:txBody>
      </p:sp>
    </p:spTree>
    <p:extLst>
      <p:ext uri="{BB962C8B-B14F-4D97-AF65-F5344CB8AC3E}">
        <p14:creationId xmlns:p14="http://schemas.microsoft.com/office/powerpoint/2010/main" val="3941845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ttribution">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E864988-2762-4674-A709-41185FF8E4B0}"/>
              </a:ext>
            </a:extLst>
          </p:cNvPr>
          <p:cNvSpPr>
            <a:spLocks noGrp="1"/>
          </p:cNvSpPr>
          <p:nvPr>
            <p:ph type="dt" sz="half" idx="10"/>
          </p:nvPr>
        </p:nvSpPr>
        <p:spPr/>
        <p:txBody>
          <a:bodyPr/>
          <a:lstStyle/>
          <a:p>
            <a:fld id="{A1ACEE5C-337C-40CA-959B-6F3EBBDE2995}" type="datetime1">
              <a:rPr lang="en-US" smtClean="0"/>
              <a:t>2/14/2025</a:t>
            </a:fld>
            <a:endParaRPr lang="en-US"/>
          </a:p>
        </p:txBody>
      </p:sp>
      <p:sp>
        <p:nvSpPr>
          <p:cNvPr id="4" name="Footer Placeholder 3">
            <a:extLst>
              <a:ext uri="{FF2B5EF4-FFF2-40B4-BE49-F238E27FC236}">
                <a16:creationId xmlns:a16="http://schemas.microsoft.com/office/drawing/2014/main" id="{5F8A8273-1633-4B95-91CD-F8BE4A6CE159}"/>
              </a:ext>
            </a:extLst>
          </p:cNvPr>
          <p:cNvSpPr>
            <a:spLocks noGrp="1"/>
          </p:cNvSpPr>
          <p:nvPr>
            <p:ph type="ftr" sz="quarter" idx="11"/>
          </p:nvPr>
        </p:nvSpPr>
        <p:spPr/>
        <p:txBody>
          <a:bodyPr/>
          <a:lstStyle/>
          <a:p>
            <a:r>
              <a:rPr lang="en-US"/>
              <a:t>Designed by PoweredTemplate</a:t>
            </a:r>
          </a:p>
        </p:txBody>
      </p:sp>
      <p:sp>
        <p:nvSpPr>
          <p:cNvPr id="5" name="Slide Number Placeholder 4">
            <a:extLst>
              <a:ext uri="{FF2B5EF4-FFF2-40B4-BE49-F238E27FC236}">
                <a16:creationId xmlns:a16="http://schemas.microsoft.com/office/drawing/2014/main" id="{D7E2CB6A-B9A2-401D-9B93-B2A434A2FD19}"/>
              </a:ext>
            </a:extLst>
          </p:cNvPr>
          <p:cNvSpPr>
            <a:spLocks noGrp="1"/>
          </p:cNvSpPr>
          <p:nvPr>
            <p:ph type="sldNum" sz="quarter" idx="12"/>
          </p:nvPr>
        </p:nvSpPr>
        <p:spPr/>
        <p:txBody>
          <a:bodyPr/>
          <a:lstStyle/>
          <a:p>
            <a:fld id="{5F294920-2F4F-4D88-AD0A-053AE5A679D0}" type="slidenum">
              <a:rPr lang="en-US" smtClean="0"/>
              <a:t>‹#›</a:t>
            </a:fld>
            <a:endParaRPr lang="en-US"/>
          </a:p>
        </p:txBody>
      </p:sp>
      <p:sp>
        <p:nvSpPr>
          <p:cNvPr id="15" name="TextBox 14">
            <a:extLst>
              <a:ext uri="{FF2B5EF4-FFF2-40B4-BE49-F238E27FC236}">
                <a16:creationId xmlns:a16="http://schemas.microsoft.com/office/drawing/2014/main" id="{466E3CD8-A331-492A-B773-93C47232E0EC}"/>
              </a:ext>
            </a:extLst>
          </p:cNvPr>
          <p:cNvSpPr txBox="1"/>
          <p:nvPr userDrawn="1"/>
        </p:nvSpPr>
        <p:spPr>
          <a:xfrm>
            <a:off x="838200" y="1628507"/>
            <a:ext cx="10515600" cy="3600986"/>
          </a:xfrm>
          <a:prstGeom prst="rect">
            <a:avLst/>
          </a:prstGeom>
          <a:noFill/>
        </p:spPr>
        <p:txBody>
          <a:bodyPr wrap="square">
            <a:spAutoFit/>
          </a:bodyPr>
          <a:lstStyle/>
          <a:p>
            <a:pPr marL="285750" indent="-285750" fontAlgn="base">
              <a:buFont typeface="Arial" panose="020B0604020202020204" pitchFamily="34" charset="0"/>
              <a:buChar char="•"/>
            </a:pPr>
            <a:r>
              <a:rPr lang="en-US" sz="1800" dirty="0">
                <a:solidFill>
                  <a:schemeClr val="bg1">
                    <a:lumMod val="50000"/>
                  </a:schemeClr>
                </a:solidFill>
              </a:rPr>
              <a:t>Creating content takes a lot of time and effort, but all we need from you is only an attribution link. </a:t>
            </a:r>
          </a:p>
          <a:p>
            <a:pPr marL="285750" indent="-285750" fontAlgn="base">
              <a:buFont typeface="Arial" panose="020B0604020202020204" pitchFamily="34" charset="0"/>
              <a:buChar char="•"/>
            </a:pPr>
            <a:endParaRPr lang="en-US" sz="1800" dirty="0">
              <a:solidFill>
                <a:schemeClr val="bg1">
                  <a:lumMod val="50000"/>
                </a:schemeClr>
              </a:solidFill>
            </a:endParaRPr>
          </a:p>
          <a:p>
            <a:pPr marL="285750" indent="-285750" fontAlgn="base">
              <a:buFont typeface="Arial" panose="020B0604020202020204" pitchFamily="34" charset="0"/>
              <a:buChar char="•"/>
            </a:pPr>
            <a:r>
              <a:rPr lang="en-US" sz="1800" dirty="0">
                <a:solidFill>
                  <a:schemeClr val="bg1">
                    <a:lumMod val="50000"/>
                  </a:schemeClr>
                </a:solidFill>
              </a:rPr>
              <a:t>In order to use the content or a part of it, you must attribute it to PoweredTemplate.com, so we will be able to continue creating new free graphic resources every day.</a:t>
            </a:r>
          </a:p>
          <a:p>
            <a:pPr marL="285750" indent="-285750" fontAlgn="base">
              <a:buFont typeface="Arial" panose="020B0604020202020204" pitchFamily="34" charset="0"/>
              <a:buChar char="•"/>
            </a:pPr>
            <a:endParaRPr lang="en-US" sz="1800" dirty="0">
              <a:solidFill>
                <a:schemeClr val="bg1">
                  <a:lumMod val="50000"/>
                </a:schemeClr>
              </a:solidFill>
            </a:endParaRPr>
          </a:p>
          <a:p>
            <a:pPr marL="285750" indent="-285750" fontAlgn="base">
              <a:buFont typeface="Arial" panose="020B0604020202020204" pitchFamily="34" charset="0"/>
              <a:buChar char="•"/>
            </a:pPr>
            <a:r>
              <a:rPr lang="en-US" sz="1800" dirty="0">
                <a:solidFill>
                  <a:schemeClr val="bg1">
                    <a:lumMod val="50000"/>
                  </a:schemeClr>
                </a:solidFill>
              </a:rPr>
              <a:t>Insert the attribution line in the credits section of your presentation. If it’s not possible, place it wherever it's visible on a web page, close to where you’re using the resource. </a:t>
            </a:r>
          </a:p>
          <a:p>
            <a:pPr marL="285750" indent="-285750" fontAlgn="base">
              <a:buFont typeface="Arial" panose="020B0604020202020204" pitchFamily="34" charset="0"/>
              <a:buChar char="•"/>
            </a:pPr>
            <a:endParaRPr lang="en-US" sz="1800" dirty="0">
              <a:solidFill>
                <a:schemeClr val="bg1">
                  <a:lumMod val="50000"/>
                </a:schemeClr>
              </a:solidFill>
            </a:endParaRPr>
          </a:p>
          <a:p>
            <a:pPr marL="285750" indent="-285750" fontAlgn="base">
              <a:buFont typeface="Arial" panose="020B0604020202020204" pitchFamily="34" charset="0"/>
              <a:buChar char="•"/>
            </a:pPr>
            <a:r>
              <a:rPr lang="en-US" sz="1800" b="1" dirty="0">
                <a:solidFill>
                  <a:schemeClr val="bg1">
                    <a:lumMod val="50000"/>
                  </a:schemeClr>
                </a:solidFill>
              </a:rPr>
              <a:t>For example: </a:t>
            </a:r>
            <a:r>
              <a:rPr lang="en-US" sz="1800" dirty="0">
                <a:solidFill>
                  <a:schemeClr val="bg1">
                    <a:lumMod val="50000"/>
                  </a:schemeClr>
                </a:solidFill>
              </a:rPr>
              <a:t>This presentation has been designed using resources from </a:t>
            </a:r>
            <a:r>
              <a:rPr lang="en-US" sz="1800" u="sng" dirty="0">
                <a:solidFill>
                  <a:srgbClr val="0070C0"/>
                </a:solidFill>
                <a:hlinkClick r:id="rId2">
                  <a:extLst>
                    <a:ext uri="{A12FA001-AC4F-418D-AE19-62706E023703}">
                      <ahyp:hlinkClr xmlns:ahyp="http://schemas.microsoft.com/office/drawing/2018/hyperlinkcolor" val="tx"/>
                    </a:ext>
                  </a:extLst>
                </a:hlinkClick>
              </a:rPr>
              <a:t>PoweredTemplate.com</a:t>
            </a:r>
            <a:endParaRPr lang="en-US" sz="1800" u="sng" dirty="0">
              <a:solidFill>
                <a:srgbClr val="0070C0"/>
              </a:solidFill>
            </a:endParaRPr>
          </a:p>
          <a:p>
            <a:pPr marL="285750" indent="-285750" fontAlgn="base">
              <a:buFont typeface="Arial" panose="020B0604020202020204" pitchFamily="34" charset="0"/>
              <a:buChar char="•"/>
            </a:pPr>
            <a:endParaRPr lang="en-US" sz="1800" dirty="0">
              <a:solidFill>
                <a:schemeClr val="bg1">
                  <a:lumMod val="50000"/>
                </a:schemeClr>
              </a:solidFill>
            </a:endParaRPr>
          </a:p>
          <a:p>
            <a:pPr marL="285750" indent="-285750" fontAlgn="base">
              <a:buFont typeface="Arial" panose="020B0604020202020204" pitchFamily="34" charset="0"/>
              <a:buChar char="•"/>
            </a:pPr>
            <a:r>
              <a:rPr lang="en-US" sz="1800" b="1" dirty="0">
                <a:solidFill>
                  <a:schemeClr val="bg1">
                    <a:lumMod val="50000"/>
                  </a:schemeClr>
                </a:solidFill>
              </a:rPr>
              <a:t>Don’t want to credit the author?</a:t>
            </a:r>
            <a:r>
              <a:rPr lang="en-US" sz="1800" dirty="0">
                <a:solidFill>
                  <a:schemeClr val="bg1">
                    <a:lumMod val="50000"/>
                  </a:schemeClr>
                </a:solidFill>
              </a:rPr>
              <a:t> </a:t>
            </a:r>
            <a:r>
              <a:rPr lang="en-US" sz="1800" dirty="0">
                <a:solidFill>
                  <a:srgbClr val="0070C0"/>
                </a:solidFill>
                <a:hlinkClick r:id="rId3">
                  <a:extLst>
                    <a:ext uri="{A12FA001-AC4F-418D-AE19-62706E023703}">
                      <ahyp:hlinkClr xmlns:ahyp="http://schemas.microsoft.com/office/drawing/2018/hyperlinkcolor" val="tx"/>
                    </a:ext>
                  </a:extLst>
                </a:hlinkClick>
              </a:rPr>
              <a:t>Go Premium </a:t>
            </a:r>
            <a:r>
              <a:rPr lang="en-US" sz="1800" dirty="0">
                <a:solidFill>
                  <a:schemeClr val="bg1">
                    <a:lumMod val="50000"/>
                  </a:schemeClr>
                </a:solidFill>
              </a:rPr>
              <a:t>and use over 75,000 templates with no attribution!</a:t>
            </a:r>
          </a:p>
          <a:p>
            <a:pPr marL="0" indent="0" fontAlgn="base">
              <a:buNone/>
            </a:pPr>
            <a:endParaRPr lang="en-US" b="1" dirty="0">
              <a:solidFill>
                <a:schemeClr val="bg1">
                  <a:lumMod val="50000"/>
                </a:schemeClr>
              </a:solidFill>
            </a:endParaRPr>
          </a:p>
          <a:p>
            <a:pPr marL="0" indent="0">
              <a:buNone/>
            </a:pPr>
            <a:r>
              <a:rPr lang="en-US" sz="1200" dirty="0">
                <a:solidFill>
                  <a:schemeClr val="bg1">
                    <a:lumMod val="50000"/>
                  </a:schemeClr>
                </a:solidFill>
              </a:rPr>
              <a:t>* This only applies if you downloaded this content as an unsubscribed (free) user.</a:t>
            </a:r>
          </a:p>
        </p:txBody>
      </p:sp>
      <p:sp>
        <p:nvSpPr>
          <p:cNvPr id="16" name="TextBox 15">
            <a:extLst>
              <a:ext uri="{FF2B5EF4-FFF2-40B4-BE49-F238E27FC236}">
                <a16:creationId xmlns:a16="http://schemas.microsoft.com/office/drawing/2014/main" id="{0590A1C1-F3B1-4521-800D-109B7D7220D9}"/>
              </a:ext>
            </a:extLst>
          </p:cNvPr>
          <p:cNvSpPr txBox="1"/>
          <p:nvPr userDrawn="1"/>
        </p:nvSpPr>
        <p:spPr>
          <a:xfrm>
            <a:off x="838199" y="136525"/>
            <a:ext cx="10390550" cy="769441"/>
          </a:xfrm>
          <a:prstGeom prst="rect">
            <a:avLst/>
          </a:prstGeom>
          <a:noFill/>
        </p:spPr>
        <p:txBody>
          <a:bodyPr wrap="square">
            <a:spAutoFit/>
          </a:bodyPr>
          <a:lstStyle/>
          <a:p>
            <a:r>
              <a:rPr lang="en-US" sz="4400" dirty="0">
                <a:solidFill>
                  <a:schemeClr val="bg1">
                    <a:lumMod val="50000"/>
                  </a:schemeClr>
                </a:solidFill>
                <a:latin typeface="Calibri Light (Headings)"/>
              </a:rPr>
              <a:t>Remember, you must attribute!*</a:t>
            </a:r>
          </a:p>
        </p:txBody>
      </p:sp>
    </p:spTree>
    <p:extLst>
      <p:ext uri="{BB962C8B-B14F-4D97-AF65-F5344CB8AC3E}">
        <p14:creationId xmlns:p14="http://schemas.microsoft.com/office/powerpoint/2010/main" val="1886835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82000"/>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BD7AB8-1902-4BDB-85A7-1AC36F666EC0}"/>
              </a:ext>
            </a:extLst>
          </p:cNvPr>
          <p:cNvSpPr>
            <a:spLocks noGrp="1"/>
          </p:cNvSpPr>
          <p:nvPr>
            <p:ph type="title"/>
          </p:nvPr>
        </p:nvSpPr>
        <p:spPr>
          <a:xfrm>
            <a:off x="838200" y="136525"/>
            <a:ext cx="10515600" cy="76782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3254F62-D565-44EB-A1C9-F20AAF2CEFA1}"/>
              </a:ext>
            </a:extLst>
          </p:cNvPr>
          <p:cNvSpPr>
            <a:spLocks noGrp="1"/>
          </p:cNvSpPr>
          <p:nvPr>
            <p:ph type="body" idx="1"/>
          </p:nvPr>
        </p:nvSpPr>
        <p:spPr>
          <a:xfrm>
            <a:off x="838200" y="1085222"/>
            <a:ext cx="10515600" cy="509186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58887B9-4418-4219-A59A-48F21437A5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rgbClr val="FBF5E8"/>
                </a:solidFill>
              </a:defRPr>
            </a:lvl1pPr>
          </a:lstStyle>
          <a:p>
            <a:fld id="{A1ACEE5C-337C-40CA-959B-6F3EBBDE2995}" type="datetime1">
              <a:rPr lang="en-US" smtClean="0"/>
              <a:pPr/>
              <a:t>2/14/2025</a:t>
            </a:fld>
            <a:endParaRPr lang="en-US"/>
          </a:p>
        </p:txBody>
      </p:sp>
      <p:sp>
        <p:nvSpPr>
          <p:cNvPr id="5" name="Footer Placeholder 4">
            <a:extLst>
              <a:ext uri="{FF2B5EF4-FFF2-40B4-BE49-F238E27FC236}">
                <a16:creationId xmlns:a16="http://schemas.microsoft.com/office/drawing/2014/main" id="{C620A504-A4AC-4BF3-BC9C-D3022DE248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rgbClr val="FBF5E8"/>
                </a:solidFill>
              </a:defRPr>
            </a:lvl1pPr>
          </a:lstStyle>
          <a:p>
            <a:r>
              <a:rPr lang="en-US"/>
              <a:t>Designed by PoweredTemplate</a:t>
            </a:r>
          </a:p>
        </p:txBody>
      </p:sp>
      <p:sp>
        <p:nvSpPr>
          <p:cNvPr id="6" name="Slide Number Placeholder 5">
            <a:extLst>
              <a:ext uri="{FF2B5EF4-FFF2-40B4-BE49-F238E27FC236}">
                <a16:creationId xmlns:a16="http://schemas.microsoft.com/office/drawing/2014/main" id="{54211677-D9C3-432D-B3A6-896F827F57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FBF5E8"/>
                </a:solidFill>
              </a:defRPr>
            </a:lvl1pPr>
          </a:lstStyle>
          <a:p>
            <a:fld id="{5F294920-2F4F-4D88-AD0A-053AE5A679D0}" type="slidenum">
              <a:rPr lang="en-US" smtClean="0"/>
              <a:pPr/>
              <a:t>‹#›</a:t>
            </a:fld>
            <a:endParaRPr lang="en-US"/>
          </a:p>
        </p:txBody>
      </p:sp>
    </p:spTree>
    <p:extLst>
      <p:ext uri="{BB962C8B-B14F-4D97-AF65-F5344CB8AC3E}">
        <p14:creationId xmlns:p14="http://schemas.microsoft.com/office/powerpoint/2010/main" val="809823666"/>
      </p:ext>
    </p:extLst>
  </p:cSld>
  <p:clrMap bg1="lt1" tx1="dk1" bg2="lt2" tx2="dk2" accent1="accent1" accent2="accent2" accent3="accent3" accent4="accent4" accent5="accent5" accent6="accent6" hlink="hlink" folHlink="folHlink"/>
  <p:sldLayoutIdLst>
    <p:sldLayoutId id="2147483649" r:id="rId1"/>
    <p:sldLayoutId id="2147483667" r:id="rId2"/>
    <p:sldLayoutId id="2147483661" r:id="rId3"/>
    <p:sldLayoutId id="2147483662" r:id="rId4"/>
    <p:sldLayoutId id="2147483664" r:id="rId5"/>
    <p:sldLayoutId id="2147483663" r:id="rId6"/>
  </p:sldLayoutIdLst>
  <p:hf sldNum="0" hdr="0" dt="0"/>
  <p:txStyles>
    <p:titleStyle>
      <a:lvl1pPr algn="l" defTabSz="914400" rtl="0" eaLnBrk="1" latinLnBrk="0" hangingPunct="1">
        <a:lnSpc>
          <a:spcPct val="90000"/>
        </a:lnSpc>
        <a:spcBef>
          <a:spcPct val="0"/>
        </a:spcBef>
        <a:buNone/>
        <a:defRPr sz="4400" kern="1200">
          <a:solidFill>
            <a:srgbClr val="FBF5E8"/>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FBF5E8"/>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FBF5E8"/>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FBF5E8"/>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FBF5E8"/>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FBF5E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oi.org/10.1186/s40537-019-0184-5" TargetMode="External"/><Relationship Id="rId2" Type="http://schemas.openxmlformats.org/officeDocument/2006/relationships/hyperlink" Target="https://doi.org/10.5120/21234-1234" TargetMode="External"/><Relationship Id="rId1" Type="http://schemas.openxmlformats.org/officeDocument/2006/relationships/slideLayout" Target="../slideLayouts/slideLayout2.xml"/><Relationship Id="rId4" Type="http://schemas.openxmlformats.org/officeDocument/2006/relationships/hyperlink" Target="https://doi.org/10.5555/3295222.3295230"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BFA770C-27FE-2787-BBEF-1BF1EDC7A9F8}"/>
              </a:ext>
            </a:extLst>
          </p:cNvPr>
          <p:cNvSpPr txBox="1"/>
          <p:nvPr/>
        </p:nvSpPr>
        <p:spPr>
          <a:xfrm>
            <a:off x="863167" y="2819509"/>
            <a:ext cx="10216757" cy="1384995"/>
          </a:xfrm>
          <a:prstGeom prst="rect">
            <a:avLst/>
          </a:prstGeom>
          <a:noFill/>
        </p:spPr>
        <p:txBody>
          <a:bodyPr wrap="square" rtlCol="0">
            <a:spAutoFit/>
          </a:bodyPr>
          <a:lstStyle/>
          <a:p>
            <a:pPr algn="ctr"/>
            <a:r>
              <a:rPr lang="en-US" sz="2800" b="1" dirty="0">
                <a:solidFill>
                  <a:schemeClr val="bg1"/>
                </a:solidFill>
              </a:rPr>
              <a:t>An Explainable Ensemble of Multi-View Deep Learning Model for future price </a:t>
            </a:r>
          </a:p>
          <a:p>
            <a:pPr algn="ctr"/>
            <a:r>
              <a:rPr lang="en-US" sz="2800" b="1" dirty="0">
                <a:solidFill>
                  <a:schemeClr val="bg1"/>
                </a:solidFill>
              </a:rPr>
              <a:t>prediction of preowned cars</a:t>
            </a:r>
            <a:endParaRPr lang="en-IN" sz="2800" b="1" dirty="0">
              <a:solidFill>
                <a:schemeClr val="bg1"/>
              </a:solidFill>
            </a:endParaRPr>
          </a:p>
        </p:txBody>
      </p:sp>
      <p:sp>
        <p:nvSpPr>
          <p:cNvPr id="8" name="TextBox 7">
            <a:extLst>
              <a:ext uri="{FF2B5EF4-FFF2-40B4-BE49-F238E27FC236}">
                <a16:creationId xmlns:a16="http://schemas.microsoft.com/office/drawing/2014/main" id="{5CAB0ECF-0CE5-6FAD-F35B-7A564180E274}"/>
              </a:ext>
            </a:extLst>
          </p:cNvPr>
          <p:cNvSpPr txBox="1"/>
          <p:nvPr/>
        </p:nvSpPr>
        <p:spPr>
          <a:xfrm>
            <a:off x="987621" y="5992401"/>
            <a:ext cx="1276311" cy="400110"/>
          </a:xfrm>
          <a:prstGeom prst="rect">
            <a:avLst/>
          </a:prstGeom>
          <a:noFill/>
        </p:spPr>
        <p:txBody>
          <a:bodyPr wrap="none" rtlCol="0">
            <a:spAutoFit/>
          </a:bodyPr>
          <a:lstStyle/>
          <a:p>
            <a:r>
              <a:rPr lang="en-US" sz="2000" b="1" dirty="0">
                <a:solidFill>
                  <a:schemeClr val="bg1"/>
                </a:solidFill>
              </a:rPr>
              <a:t>Subhash</a:t>
            </a:r>
            <a:r>
              <a:rPr lang="en-US" b="1" dirty="0">
                <a:solidFill>
                  <a:schemeClr val="bg1"/>
                </a:solidFill>
              </a:rPr>
              <a:t> V</a:t>
            </a:r>
            <a:endParaRPr lang="en-IN" b="1" dirty="0">
              <a:solidFill>
                <a:schemeClr val="bg1"/>
              </a:solidFill>
            </a:endParaRPr>
          </a:p>
        </p:txBody>
      </p:sp>
      <p:sp>
        <p:nvSpPr>
          <p:cNvPr id="10" name="TextBox 9">
            <a:extLst>
              <a:ext uri="{FF2B5EF4-FFF2-40B4-BE49-F238E27FC236}">
                <a16:creationId xmlns:a16="http://schemas.microsoft.com/office/drawing/2014/main" id="{349F7CF2-A7AF-E4FE-37AE-1B90AA1A2BB7}"/>
              </a:ext>
            </a:extLst>
          </p:cNvPr>
          <p:cNvSpPr txBox="1"/>
          <p:nvPr/>
        </p:nvSpPr>
        <p:spPr>
          <a:xfrm>
            <a:off x="5445328" y="5964821"/>
            <a:ext cx="1112805" cy="369332"/>
          </a:xfrm>
          <a:prstGeom prst="rect">
            <a:avLst/>
          </a:prstGeom>
          <a:noFill/>
        </p:spPr>
        <p:txBody>
          <a:bodyPr wrap="none" rtlCol="0">
            <a:spAutoFit/>
          </a:bodyPr>
          <a:lstStyle/>
          <a:p>
            <a:r>
              <a:rPr lang="en-US" b="1" dirty="0">
                <a:solidFill>
                  <a:schemeClr val="bg1"/>
                </a:solidFill>
              </a:rPr>
              <a:t>Vignesh Y</a:t>
            </a:r>
            <a:endParaRPr lang="en-IN" b="1" dirty="0">
              <a:solidFill>
                <a:schemeClr val="bg1"/>
              </a:solidFill>
            </a:endParaRPr>
          </a:p>
        </p:txBody>
      </p:sp>
      <p:sp>
        <p:nvSpPr>
          <p:cNvPr id="11" name="TextBox 10">
            <a:extLst>
              <a:ext uri="{FF2B5EF4-FFF2-40B4-BE49-F238E27FC236}">
                <a16:creationId xmlns:a16="http://schemas.microsoft.com/office/drawing/2014/main" id="{69E17D13-BB59-6FE8-D2F7-D974F0DCC000}"/>
              </a:ext>
            </a:extLst>
          </p:cNvPr>
          <p:cNvSpPr txBox="1"/>
          <p:nvPr/>
        </p:nvSpPr>
        <p:spPr>
          <a:xfrm>
            <a:off x="9744339" y="5964821"/>
            <a:ext cx="1369286" cy="400110"/>
          </a:xfrm>
          <a:prstGeom prst="rect">
            <a:avLst/>
          </a:prstGeom>
          <a:noFill/>
        </p:spPr>
        <p:txBody>
          <a:bodyPr wrap="none" rtlCol="0">
            <a:spAutoFit/>
          </a:bodyPr>
          <a:lstStyle/>
          <a:p>
            <a:r>
              <a:rPr lang="en-US" sz="2000" b="1" dirty="0">
                <a:solidFill>
                  <a:schemeClr val="bg1"/>
                </a:solidFill>
              </a:rPr>
              <a:t>Manohar B</a:t>
            </a:r>
            <a:endParaRPr lang="en-IN" sz="2000" b="1" dirty="0">
              <a:solidFill>
                <a:schemeClr val="bg1"/>
              </a:solidFill>
            </a:endParaRPr>
          </a:p>
        </p:txBody>
      </p:sp>
      <p:sp>
        <p:nvSpPr>
          <p:cNvPr id="12" name="Freeform 17">
            <a:extLst>
              <a:ext uri="{FF2B5EF4-FFF2-40B4-BE49-F238E27FC236}">
                <a16:creationId xmlns:a16="http://schemas.microsoft.com/office/drawing/2014/main" id="{3E2D3045-6B13-6131-8049-5899B9E55271}"/>
              </a:ext>
            </a:extLst>
          </p:cNvPr>
          <p:cNvSpPr/>
          <p:nvPr/>
        </p:nvSpPr>
        <p:spPr>
          <a:xfrm>
            <a:off x="2263932" y="703482"/>
            <a:ext cx="3079148" cy="928548"/>
          </a:xfrm>
          <a:custGeom>
            <a:avLst/>
            <a:gdLst/>
            <a:ahLst/>
            <a:cxnLst/>
            <a:rect l="l" t="t" r="r" b="b"/>
            <a:pathLst>
              <a:path w="4319008" h="1403130">
                <a:moveTo>
                  <a:pt x="0" y="0"/>
                </a:moveTo>
                <a:lnTo>
                  <a:pt x="4319008" y="0"/>
                </a:lnTo>
                <a:lnTo>
                  <a:pt x="4319008" y="1403130"/>
                </a:lnTo>
                <a:lnTo>
                  <a:pt x="0" y="1403130"/>
                </a:lnTo>
                <a:lnTo>
                  <a:pt x="0" y="0"/>
                </a:lnTo>
                <a:close/>
              </a:path>
            </a:pathLst>
          </a:custGeom>
          <a:blipFill>
            <a:blip r:embed="rId2"/>
            <a:stretch>
              <a:fillRect/>
            </a:stretch>
          </a:blipFill>
        </p:spPr>
        <p:txBody>
          <a:bodyPr/>
          <a:lstStyle/>
          <a:p>
            <a:endParaRPr lang="en-IN">
              <a:solidFill>
                <a:schemeClr val="bg1"/>
              </a:solidFill>
            </a:endParaRPr>
          </a:p>
        </p:txBody>
      </p:sp>
      <p:sp>
        <p:nvSpPr>
          <p:cNvPr id="13" name="Freeform 10">
            <a:extLst>
              <a:ext uri="{FF2B5EF4-FFF2-40B4-BE49-F238E27FC236}">
                <a16:creationId xmlns:a16="http://schemas.microsoft.com/office/drawing/2014/main" id="{4E8D901B-8FF2-EA6D-5C25-64A304612BA1}"/>
              </a:ext>
            </a:extLst>
          </p:cNvPr>
          <p:cNvSpPr/>
          <p:nvPr/>
        </p:nvSpPr>
        <p:spPr>
          <a:xfrm>
            <a:off x="6848922" y="810653"/>
            <a:ext cx="1896201" cy="821377"/>
          </a:xfrm>
          <a:custGeom>
            <a:avLst/>
            <a:gdLst/>
            <a:ahLst/>
            <a:cxnLst/>
            <a:rect l="l" t="t" r="r" b="b"/>
            <a:pathLst>
              <a:path w="3461132" h="1938234">
                <a:moveTo>
                  <a:pt x="0" y="0"/>
                </a:moveTo>
                <a:lnTo>
                  <a:pt x="3461132" y="0"/>
                </a:lnTo>
                <a:lnTo>
                  <a:pt x="3461132" y="1938234"/>
                </a:lnTo>
                <a:lnTo>
                  <a:pt x="0" y="1938234"/>
                </a:lnTo>
                <a:lnTo>
                  <a:pt x="0" y="0"/>
                </a:lnTo>
                <a:close/>
              </a:path>
            </a:pathLst>
          </a:custGeom>
          <a:blipFill>
            <a:blip r:embed="rId3"/>
            <a:stretch>
              <a:fillRect/>
            </a:stretch>
          </a:blipFill>
        </p:spPr>
        <p:txBody>
          <a:bodyPr/>
          <a:lstStyle/>
          <a:p>
            <a:endParaRPr lang="en-IN"/>
          </a:p>
        </p:txBody>
      </p:sp>
    </p:spTree>
    <p:extLst>
      <p:ext uri="{BB962C8B-B14F-4D97-AF65-F5344CB8AC3E}">
        <p14:creationId xmlns:p14="http://schemas.microsoft.com/office/powerpoint/2010/main" val="623544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27748-3A71-B5E5-938E-7F261A059D8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D0F29D6-BECF-6A77-2B49-27FD1483B836}"/>
              </a:ext>
            </a:extLst>
          </p:cNvPr>
          <p:cNvSpPr txBox="1"/>
          <p:nvPr/>
        </p:nvSpPr>
        <p:spPr>
          <a:xfrm>
            <a:off x="464057" y="1938424"/>
            <a:ext cx="7192734" cy="3937333"/>
          </a:xfrm>
          <a:prstGeom prst="rect">
            <a:avLst/>
          </a:prstGeom>
          <a:noFill/>
          <a:ln cap="flat">
            <a:noFill/>
          </a:ln>
        </p:spPr>
        <p:txBody>
          <a:bodyPr vert="horz" wrap="square" lIns="91440" tIns="45720" rIns="91440" bIns="45720" anchor="t" anchorCtr="0" compatLnSpc="1">
            <a:noAutofit/>
          </a:bodyPr>
          <a:lstStyle/>
          <a:p>
            <a:pPr marL="228600" marR="0" lvl="0" indent="-228600" algn="l" defTabSz="914400" rtl="0" fontAlgn="auto" hangingPunct="1">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US" sz="2400" b="1" i="0" u="none" strike="noStrike" kern="1200" cap="none" spc="0" baseline="0" dirty="0">
                <a:solidFill>
                  <a:schemeClr val="bg1"/>
                </a:solidFill>
                <a:uFillTx/>
                <a:latin typeface="Calibri"/>
              </a:rPr>
              <a:t>Introduction</a:t>
            </a:r>
          </a:p>
          <a:p>
            <a:pPr marL="228600" marR="0" lvl="0" indent="-228600" algn="l" defTabSz="914400" rtl="0" fontAlgn="auto" hangingPunct="1">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US" sz="2400" b="1" i="0" u="none" strike="noStrike" kern="1200" cap="none" spc="0" baseline="0" dirty="0">
                <a:solidFill>
                  <a:schemeClr val="bg1"/>
                </a:solidFill>
                <a:uFillTx/>
                <a:latin typeface="Calibri"/>
              </a:rPr>
              <a:t>Literature Review</a:t>
            </a:r>
          </a:p>
          <a:p>
            <a:pPr marL="228600" marR="0" lvl="0" indent="-228600" algn="l" defTabSz="914400" rtl="0" fontAlgn="auto" hangingPunct="1">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US" sz="2400" b="1" i="0" u="none" strike="noStrike" kern="1200" cap="none" spc="0" baseline="0" dirty="0">
                <a:solidFill>
                  <a:schemeClr val="bg1"/>
                </a:solidFill>
                <a:uFillTx/>
                <a:latin typeface="Calibri"/>
              </a:rPr>
              <a:t>Research gap</a:t>
            </a:r>
          </a:p>
          <a:p>
            <a:pPr marL="228600" marR="0" lvl="0" indent="-228600" algn="l" defTabSz="914400" rtl="0" fontAlgn="auto" hangingPunct="1">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US" sz="2400" b="1" i="0" u="none" strike="noStrike" kern="1200" cap="none" spc="0" baseline="0" dirty="0">
                <a:solidFill>
                  <a:schemeClr val="bg1"/>
                </a:solidFill>
                <a:uFillTx/>
                <a:latin typeface="Calibri"/>
              </a:rPr>
              <a:t>Methodology</a:t>
            </a:r>
          </a:p>
          <a:p>
            <a:pPr marL="228600" marR="0" lvl="0" indent="-228600" algn="l" defTabSz="914400" rtl="0" fontAlgn="auto" hangingPunct="1">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US" sz="2400" b="1" i="0" u="none" strike="noStrike" kern="1200" cap="none" spc="0" baseline="0" dirty="0">
                <a:solidFill>
                  <a:schemeClr val="bg1"/>
                </a:solidFill>
                <a:uFillTx/>
                <a:latin typeface="Calibri"/>
              </a:rPr>
              <a:t>Objective</a:t>
            </a:r>
          </a:p>
          <a:p>
            <a:pPr marL="228600" marR="0" lvl="0" indent="-228600" algn="l" defTabSz="914400" rtl="0" fontAlgn="auto" hangingPunct="1">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US" sz="2400" b="1" i="0" u="none" strike="noStrike" kern="1200" cap="none" spc="0" baseline="0" dirty="0">
                <a:solidFill>
                  <a:schemeClr val="bg1"/>
                </a:solidFill>
                <a:uFillTx/>
                <a:latin typeface="Calibri"/>
              </a:rPr>
              <a:t>Conclusions</a:t>
            </a:r>
          </a:p>
          <a:p>
            <a:pPr marL="228600" marR="0" lvl="0" indent="-228600" algn="l" defTabSz="914400" rtl="0" fontAlgn="auto" hangingPunct="1">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US" sz="2400" b="1" i="0" u="none" strike="noStrike" kern="1200" cap="none" spc="0" baseline="0" dirty="0">
                <a:solidFill>
                  <a:schemeClr val="bg1"/>
                </a:solidFill>
                <a:uFillTx/>
                <a:latin typeface="Calibri"/>
              </a:rPr>
              <a:t>References</a:t>
            </a:r>
          </a:p>
        </p:txBody>
      </p:sp>
      <p:sp>
        <p:nvSpPr>
          <p:cNvPr id="3" name="Title 3">
            <a:extLst>
              <a:ext uri="{FF2B5EF4-FFF2-40B4-BE49-F238E27FC236}">
                <a16:creationId xmlns:a16="http://schemas.microsoft.com/office/drawing/2014/main" id="{8ED9AF18-FECA-79B0-D943-5FC71B70702C}"/>
              </a:ext>
            </a:extLst>
          </p:cNvPr>
          <p:cNvSpPr txBox="1">
            <a:spLocks/>
          </p:cNvSpPr>
          <p:nvPr/>
        </p:nvSpPr>
        <p:spPr>
          <a:xfrm>
            <a:off x="464057" y="1121557"/>
            <a:ext cx="6634127" cy="610389"/>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100" b="1" dirty="0">
                <a:solidFill>
                  <a:schemeClr val="bg1"/>
                </a:solidFill>
              </a:rPr>
              <a:t>Table of Contents</a:t>
            </a:r>
            <a:endParaRPr lang="en-US" sz="4100" dirty="0">
              <a:solidFill>
                <a:schemeClr val="bg1"/>
              </a:solidFill>
            </a:endParaRPr>
          </a:p>
        </p:txBody>
      </p:sp>
    </p:spTree>
    <p:extLst>
      <p:ext uri="{BB962C8B-B14F-4D97-AF65-F5344CB8AC3E}">
        <p14:creationId xmlns:p14="http://schemas.microsoft.com/office/powerpoint/2010/main" val="1214963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2C5832D0-6CC6-188B-6171-BAEE74D8A2C8}"/>
              </a:ext>
            </a:extLst>
          </p:cNvPr>
          <p:cNvSpPr txBox="1"/>
          <p:nvPr/>
        </p:nvSpPr>
        <p:spPr>
          <a:xfrm>
            <a:off x="793102" y="2138687"/>
            <a:ext cx="8014996" cy="2246769"/>
          </a:xfrm>
          <a:prstGeom prst="rect">
            <a:avLst/>
          </a:prstGeom>
          <a:noFill/>
        </p:spPr>
        <p:txBody>
          <a:bodyPr wrap="square">
            <a:spAutoFit/>
          </a:bodyPr>
          <a:lstStyle/>
          <a:p>
            <a:pPr algn="just"/>
            <a:r>
              <a:rPr lang="en-US" sz="2000" dirty="0">
                <a:solidFill>
                  <a:schemeClr val="bg1"/>
                </a:solidFill>
                <a:latin typeface="Times New Roman" panose="02020603050405020304" pitchFamily="18" charset="0"/>
                <a:cs typeface="Times New Roman" panose="02020603050405020304" pitchFamily="18" charset="0"/>
              </a:rPr>
              <a:t>Predicting pre-owned car prices is complex due to factors like car specs, condition, and market trends. This project develops an *explainable ensemble of multi-view deep learning model* that combines structured, visual, textual, and temporal data for accurate price predictions. By integrating explainability techniques, the system provides transparent insights into pricing factors, helping dealers and buyers make informed decisions. This approach improves accuracy and trust in price forecasting.</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81AD6B1F-52FB-2991-1B1F-5D42C5A5BFDF}"/>
              </a:ext>
            </a:extLst>
          </p:cNvPr>
          <p:cNvSpPr txBox="1"/>
          <p:nvPr/>
        </p:nvSpPr>
        <p:spPr>
          <a:xfrm>
            <a:off x="793102" y="1483567"/>
            <a:ext cx="2746265" cy="477054"/>
          </a:xfrm>
          <a:prstGeom prst="rect">
            <a:avLst/>
          </a:prstGeom>
          <a:noFill/>
        </p:spPr>
        <p:txBody>
          <a:bodyPr wrap="none" rtlCol="0">
            <a:spAutoFit/>
          </a:bodyPr>
          <a:lstStyle/>
          <a:p>
            <a:r>
              <a:rPr lang="en-US" sz="2500" b="1" dirty="0">
                <a:solidFill>
                  <a:schemeClr val="bg1"/>
                </a:solidFill>
                <a:latin typeface="Times New Roman" panose="02020603050405020304" pitchFamily="18" charset="0"/>
                <a:cs typeface="Times New Roman" panose="02020603050405020304" pitchFamily="18" charset="0"/>
              </a:rPr>
              <a:t>INTRODUCTION</a:t>
            </a:r>
            <a:endParaRPr lang="en-IN" sz="25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3401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F8FA4-0D8B-F9D4-9547-49F0D4B25D5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E4894DF-02E1-E494-AFFA-BA1D60F75609}"/>
              </a:ext>
            </a:extLst>
          </p:cNvPr>
          <p:cNvSpPr txBox="1"/>
          <p:nvPr/>
        </p:nvSpPr>
        <p:spPr>
          <a:xfrm>
            <a:off x="586087" y="1531474"/>
            <a:ext cx="3173188" cy="5432256"/>
          </a:xfrm>
          <a:prstGeom prst="rect">
            <a:avLst/>
          </a:prstGeom>
          <a:noFill/>
        </p:spPr>
        <p:txBody>
          <a:bodyPr wrap="square">
            <a:spAutoFit/>
          </a:bodyPr>
          <a:lstStyle/>
          <a:p>
            <a:pPr algn="just"/>
            <a:r>
              <a:rPr lang="en-US" b="1" i="0" dirty="0">
                <a:solidFill>
                  <a:schemeClr val="bg1"/>
                </a:solidFill>
                <a:effectLst/>
                <a:latin typeface="Inter"/>
              </a:rPr>
              <a:t>Paper 1: </a:t>
            </a:r>
          </a:p>
          <a:p>
            <a:pPr algn="just"/>
            <a:r>
              <a:rPr lang="en-US" b="1" i="0" dirty="0">
                <a:solidFill>
                  <a:schemeClr val="bg1"/>
                </a:solidFill>
                <a:effectLst/>
                <a:latin typeface="Inter"/>
              </a:rPr>
              <a:t>"Predicting Used Car Prices Using Regression Techniques" by Kumar et al. (2015)</a:t>
            </a:r>
          </a:p>
          <a:p>
            <a:pPr algn="just"/>
            <a:endParaRPr lang="en-US" b="1" dirty="0">
              <a:solidFill>
                <a:schemeClr val="bg1"/>
              </a:solidFill>
              <a:latin typeface="Inter"/>
            </a:endParaRPr>
          </a:p>
          <a:p>
            <a:pPr algn="just"/>
            <a:r>
              <a:rPr lang="en-US" b="1" i="0" dirty="0">
                <a:solidFill>
                  <a:schemeClr val="bg1"/>
                </a:solidFill>
                <a:effectLst/>
                <a:latin typeface="Inter"/>
              </a:rPr>
              <a:t>Summary</a:t>
            </a:r>
            <a:r>
              <a:rPr lang="en-US" b="0" i="0" dirty="0">
                <a:solidFill>
                  <a:schemeClr val="bg1"/>
                </a:solidFill>
                <a:effectLst/>
                <a:latin typeface="Inter"/>
              </a:rPr>
              <a:t>: This study focuses on predicting used car prices using traditional regression techniques such as linear regression, decision trees, and support vector machines (SVMs).</a:t>
            </a:r>
          </a:p>
          <a:p>
            <a:pPr algn="just"/>
            <a:endParaRPr lang="en-US" dirty="0">
              <a:solidFill>
                <a:schemeClr val="bg1"/>
              </a:solidFill>
              <a:latin typeface="Inter"/>
            </a:endParaRPr>
          </a:p>
          <a:p>
            <a:pPr algn="l">
              <a:spcAft>
                <a:spcPts val="300"/>
              </a:spcAft>
            </a:pPr>
            <a:r>
              <a:rPr lang="en-US" b="1" i="0" dirty="0">
                <a:solidFill>
                  <a:schemeClr val="bg1"/>
                </a:solidFill>
                <a:effectLst/>
                <a:latin typeface="Inter"/>
              </a:rPr>
              <a:t>Key Findings</a:t>
            </a:r>
            <a:r>
              <a:rPr lang="en-US" b="0" i="0" dirty="0">
                <a:solidFill>
                  <a:schemeClr val="bg1"/>
                </a:solidFill>
                <a:effectLst/>
                <a:latin typeface="Inter"/>
              </a:rPr>
              <a:t>:</a:t>
            </a:r>
          </a:p>
          <a:p>
            <a:pPr algn="l">
              <a:spcBef>
                <a:spcPts val="300"/>
              </a:spcBef>
              <a:buFont typeface="Arial" panose="020B0604020202020204" pitchFamily="34" charset="0"/>
              <a:buChar char="•"/>
            </a:pPr>
            <a:r>
              <a:rPr lang="en-US" b="0" i="0" dirty="0">
                <a:solidFill>
                  <a:schemeClr val="bg1"/>
                </a:solidFill>
                <a:effectLst/>
                <a:latin typeface="Inter"/>
              </a:rPr>
              <a:t> Decision trees and SVMs outperformed linear regression in terms of prediction accuracy.</a:t>
            </a:r>
          </a:p>
          <a:p>
            <a:pPr algn="just"/>
            <a:endParaRPr lang="en-US" b="1" i="0" dirty="0">
              <a:solidFill>
                <a:schemeClr val="bg1"/>
              </a:solidFill>
              <a:effectLst/>
              <a:latin typeface="Inter"/>
            </a:endParaRPr>
          </a:p>
          <a:p>
            <a:pPr algn="just"/>
            <a:endParaRPr lang="en-US" b="1" i="0" dirty="0">
              <a:solidFill>
                <a:schemeClr val="bg1"/>
              </a:solidFill>
              <a:effectLst/>
              <a:latin typeface="Inter"/>
            </a:endParaRPr>
          </a:p>
        </p:txBody>
      </p:sp>
      <p:sp>
        <p:nvSpPr>
          <p:cNvPr id="5" name="TextBox 4">
            <a:extLst>
              <a:ext uri="{FF2B5EF4-FFF2-40B4-BE49-F238E27FC236}">
                <a16:creationId xmlns:a16="http://schemas.microsoft.com/office/drawing/2014/main" id="{0E44D962-81BB-35B4-8684-BCEB99AF6A09}"/>
              </a:ext>
            </a:extLst>
          </p:cNvPr>
          <p:cNvSpPr txBox="1"/>
          <p:nvPr/>
        </p:nvSpPr>
        <p:spPr>
          <a:xfrm>
            <a:off x="4294231" y="1527295"/>
            <a:ext cx="3333359" cy="5155257"/>
          </a:xfrm>
          <a:prstGeom prst="rect">
            <a:avLst/>
          </a:prstGeom>
          <a:noFill/>
        </p:spPr>
        <p:txBody>
          <a:bodyPr wrap="square">
            <a:spAutoFit/>
          </a:bodyPr>
          <a:lstStyle/>
          <a:p>
            <a:pPr algn="just"/>
            <a:r>
              <a:rPr lang="en-US" b="1" i="0" dirty="0">
                <a:solidFill>
                  <a:schemeClr val="bg1"/>
                </a:solidFill>
                <a:effectLst/>
                <a:latin typeface="Inter"/>
              </a:rPr>
              <a:t>Paper 2: </a:t>
            </a:r>
          </a:p>
          <a:p>
            <a:pPr algn="just"/>
            <a:r>
              <a:rPr lang="en-US" b="1" i="0" dirty="0">
                <a:solidFill>
                  <a:schemeClr val="bg1"/>
                </a:solidFill>
                <a:effectLst/>
                <a:latin typeface="Inter"/>
              </a:rPr>
              <a:t>"Deep Learning for Real Estate Price Prediction" by Zhang et al. (2019)</a:t>
            </a:r>
          </a:p>
          <a:p>
            <a:pPr algn="just"/>
            <a:endParaRPr lang="en-US" b="1" dirty="0">
              <a:solidFill>
                <a:schemeClr val="bg1"/>
              </a:solidFill>
              <a:latin typeface="Inter"/>
            </a:endParaRPr>
          </a:p>
          <a:p>
            <a:pPr algn="just"/>
            <a:r>
              <a:rPr lang="en-US" b="1" i="0" dirty="0">
                <a:solidFill>
                  <a:schemeClr val="bg1"/>
                </a:solidFill>
                <a:effectLst/>
                <a:latin typeface="Inter"/>
              </a:rPr>
              <a:t>Summary</a:t>
            </a:r>
            <a:r>
              <a:rPr lang="en-US" b="0" i="0" dirty="0">
                <a:solidFill>
                  <a:schemeClr val="bg1"/>
                </a:solidFill>
                <a:effectLst/>
                <a:latin typeface="Inter"/>
              </a:rPr>
              <a:t>: This paper explores the use of deep learning models, specifically Deep Neural Networks (DNNs), for predicting real estate prices. </a:t>
            </a:r>
            <a:endParaRPr lang="en-US" b="1" i="0" dirty="0">
              <a:solidFill>
                <a:schemeClr val="bg1"/>
              </a:solidFill>
              <a:effectLst/>
              <a:latin typeface="Inter"/>
            </a:endParaRPr>
          </a:p>
          <a:p>
            <a:pPr algn="just"/>
            <a:endParaRPr lang="en-US" b="1" dirty="0">
              <a:solidFill>
                <a:schemeClr val="bg1"/>
              </a:solidFill>
              <a:latin typeface="Inter"/>
            </a:endParaRPr>
          </a:p>
          <a:p>
            <a:pPr algn="just">
              <a:spcAft>
                <a:spcPts val="300"/>
              </a:spcAft>
            </a:pPr>
            <a:r>
              <a:rPr lang="en-US" b="1" i="0" dirty="0">
                <a:solidFill>
                  <a:schemeClr val="bg1"/>
                </a:solidFill>
                <a:effectLst/>
                <a:latin typeface="Inter"/>
              </a:rPr>
              <a:t>Key Findings</a:t>
            </a:r>
            <a:r>
              <a:rPr lang="en-US" b="0" i="0" dirty="0">
                <a:solidFill>
                  <a:schemeClr val="bg1"/>
                </a:solidFill>
                <a:effectLst/>
                <a:latin typeface="Inter"/>
              </a:rPr>
              <a:t>:</a:t>
            </a:r>
          </a:p>
          <a:p>
            <a:pPr algn="just">
              <a:spcBef>
                <a:spcPts val="300"/>
              </a:spcBef>
              <a:buFont typeface="Arial" panose="020B0604020202020204" pitchFamily="34" charset="0"/>
              <a:buChar char="•"/>
            </a:pPr>
            <a:r>
              <a:rPr lang="en-US" b="0" i="0" dirty="0">
                <a:solidFill>
                  <a:schemeClr val="bg1"/>
                </a:solidFill>
                <a:effectLst/>
                <a:latin typeface="Inter"/>
              </a:rPr>
              <a:t> DNNs outperformed traditional ML models like Random Forest and Gradient Boosting in capturing complex, non-linear relationships.</a:t>
            </a:r>
          </a:p>
          <a:p>
            <a:pPr algn="just"/>
            <a:endParaRPr lang="en-US" b="1" i="0" dirty="0">
              <a:solidFill>
                <a:schemeClr val="bg1"/>
              </a:solidFill>
              <a:effectLst/>
              <a:latin typeface="Inter"/>
            </a:endParaRPr>
          </a:p>
        </p:txBody>
      </p:sp>
      <p:sp>
        <p:nvSpPr>
          <p:cNvPr id="7" name="TextBox 6">
            <a:extLst>
              <a:ext uri="{FF2B5EF4-FFF2-40B4-BE49-F238E27FC236}">
                <a16:creationId xmlns:a16="http://schemas.microsoft.com/office/drawing/2014/main" id="{8508DF7B-14FD-0D16-B378-D6DDAE52133D}"/>
              </a:ext>
            </a:extLst>
          </p:cNvPr>
          <p:cNvSpPr txBox="1"/>
          <p:nvPr/>
        </p:nvSpPr>
        <p:spPr>
          <a:xfrm>
            <a:off x="8162546" y="1527295"/>
            <a:ext cx="3333359" cy="4878259"/>
          </a:xfrm>
          <a:prstGeom prst="rect">
            <a:avLst/>
          </a:prstGeom>
          <a:noFill/>
        </p:spPr>
        <p:txBody>
          <a:bodyPr wrap="square">
            <a:spAutoFit/>
          </a:bodyPr>
          <a:lstStyle/>
          <a:p>
            <a:pPr algn="just"/>
            <a:r>
              <a:rPr lang="en-US" b="1" i="0" dirty="0">
                <a:solidFill>
                  <a:schemeClr val="bg1"/>
                </a:solidFill>
                <a:effectLst/>
                <a:latin typeface="Inter"/>
              </a:rPr>
              <a:t>Paper 3: </a:t>
            </a:r>
          </a:p>
          <a:p>
            <a:pPr algn="just"/>
            <a:r>
              <a:rPr lang="en-US" b="1" i="0" dirty="0">
                <a:solidFill>
                  <a:schemeClr val="bg1"/>
                </a:solidFill>
                <a:effectLst/>
                <a:latin typeface="Inter"/>
              </a:rPr>
              <a:t>"A Unified Approach to Interpreting Model Predictions" by Lundberg and Lee (2017)</a:t>
            </a:r>
          </a:p>
          <a:p>
            <a:pPr algn="just"/>
            <a:endParaRPr lang="en-US" b="1" dirty="0">
              <a:solidFill>
                <a:schemeClr val="bg1"/>
              </a:solidFill>
              <a:latin typeface="Inter"/>
            </a:endParaRPr>
          </a:p>
          <a:p>
            <a:pPr algn="just"/>
            <a:r>
              <a:rPr lang="en-US" b="1" i="0" dirty="0">
                <a:solidFill>
                  <a:schemeClr val="bg1"/>
                </a:solidFill>
                <a:effectLst/>
                <a:latin typeface="Inter"/>
              </a:rPr>
              <a:t>Summary</a:t>
            </a:r>
            <a:r>
              <a:rPr lang="en-US" b="0" i="0" dirty="0">
                <a:solidFill>
                  <a:schemeClr val="bg1"/>
                </a:solidFill>
                <a:effectLst/>
                <a:latin typeface="Inter"/>
              </a:rPr>
              <a:t>: This paper introduces SHAP (Shapley Additive explanations), a unified framework for explaining the output of machine learning models.</a:t>
            </a:r>
            <a:endParaRPr lang="en-US" b="1" i="0" dirty="0">
              <a:solidFill>
                <a:schemeClr val="bg1"/>
              </a:solidFill>
              <a:effectLst/>
              <a:latin typeface="Inter"/>
            </a:endParaRPr>
          </a:p>
          <a:p>
            <a:pPr algn="just"/>
            <a:endParaRPr lang="en-US" b="1" dirty="0">
              <a:solidFill>
                <a:schemeClr val="bg1"/>
              </a:solidFill>
              <a:latin typeface="Inter"/>
            </a:endParaRPr>
          </a:p>
          <a:p>
            <a:pPr algn="just">
              <a:spcAft>
                <a:spcPts val="300"/>
              </a:spcAft>
            </a:pPr>
            <a:r>
              <a:rPr lang="en-US" b="1" i="0" dirty="0">
                <a:solidFill>
                  <a:schemeClr val="bg1"/>
                </a:solidFill>
                <a:effectLst/>
                <a:latin typeface="Inter"/>
              </a:rPr>
              <a:t>Key Findings</a:t>
            </a:r>
            <a:r>
              <a:rPr lang="en-US" b="0" i="0" dirty="0">
                <a:solidFill>
                  <a:schemeClr val="bg1"/>
                </a:solidFill>
                <a:effectLst/>
                <a:latin typeface="Inter"/>
              </a:rPr>
              <a:t>:</a:t>
            </a:r>
          </a:p>
          <a:p>
            <a:pPr algn="just">
              <a:spcBef>
                <a:spcPts val="300"/>
              </a:spcBef>
              <a:buFont typeface="Arial" panose="020B0604020202020204" pitchFamily="34" charset="0"/>
              <a:buChar char="•"/>
            </a:pPr>
            <a:r>
              <a:rPr lang="en-US" b="0" i="0" dirty="0">
                <a:solidFill>
                  <a:schemeClr val="bg1"/>
                </a:solidFill>
                <a:effectLst/>
                <a:latin typeface="Inter"/>
              </a:rPr>
              <a:t>SHAP values can be applied to any machine learning model, including deep learning models.</a:t>
            </a:r>
          </a:p>
          <a:p>
            <a:pPr algn="just"/>
            <a:endParaRPr lang="en-US" b="1" i="0" dirty="0">
              <a:solidFill>
                <a:schemeClr val="bg1"/>
              </a:solidFill>
              <a:effectLst/>
              <a:latin typeface="Inter"/>
            </a:endParaRPr>
          </a:p>
        </p:txBody>
      </p:sp>
      <p:sp>
        <p:nvSpPr>
          <p:cNvPr id="8" name="TextBox 7">
            <a:extLst>
              <a:ext uri="{FF2B5EF4-FFF2-40B4-BE49-F238E27FC236}">
                <a16:creationId xmlns:a16="http://schemas.microsoft.com/office/drawing/2014/main" id="{D94EE77A-1FF0-C51D-F5F6-114A38CCE041}"/>
              </a:ext>
            </a:extLst>
          </p:cNvPr>
          <p:cNvSpPr txBox="1"/>
          <p:nvPr/>
        </p:nvSpPr>
        <p:spPr>
          <a:xfrm>
            <a:off x="433622" y="494789"/>
            <a:ext cx="3860609" cy="523220"/>
          </a:xfrm>
          <a:prstGeom prst="rect">
            <a:avLst/>
          </a:prstGeom>
          <a:noFill/>
        </p:spPr>
        <p:txBody>
          <a:bodyPr wrap="none" rtlCol="0">
            <a:spAutoFit/>
          </a:bodyPr>
          <a:lstStyle/>
          <a:p>
            <a:r>
              <a:rPr lang="en-US" sz="2500" b="1" dirty="0">
                <a:solidFill>
                  <a:schemeClr val="bg1"/>
                </a:solidFill>
                <a:latin typeface="Times New Roman" panose="02020603050405020304" pitchFamily="18" charset="0"/>
                <a:cs typeface="Times New Roman" panose="02020603050405020304" pitchFamily="18" charset="0"/>
              </a:rPr>
              <a:t>LITERATURE</a:t>
            </a:r>
            <a:r>
              <a:rPr lang="en-US" sz="2800" b="1" dirty="0">
                <a:solidFill>
                  <a:schemeClr val="bg1"/>
                </a:solidFill>
                <a:latin typeface="Times New Roman" panose="02020603050405020304" pitchFamily="18" charset="0"/>
                <a:cs typeface="Times New Roman" panose="02020603050405020304" pitchFamily="18" charset="0"/>
              </a:rPr>
              <a:t> REVIEW</a:t>
            </a:r>
            <a:endParaRPr lang="en-IN" sz="2800" b="1" dirty="0">
              <a:solidFill>
                <a:schemeClr val="bg1"/>
              </a:solidFill>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32BAEB68-0631-5304-EE90-79961D722885}"/>
              </a:ext>
            </a:extLst>
          </p:cNvPr>
          <p:cNvCxnSpPr/>
          <p:nvPr/>
        </p:nvCxnSpPr>
        <p:spPr>
          <a:xfrm>
            <a:off x="3993266" y="1365554"/>
            <a:ext cx="0" cy="504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035C8A0-0AED-E497-0664-4F2A0225B0F6}"/>
              </a:ext>
            </a:extLst>
          </p:cNvPr>
          <p:cNvCxnSpPr/>
          <p:nvPr/>
        </p:nvCxnSpPr>
        <p:spPr>
          <a:xfrm>
            <a:off x="7849565" y="1365554"/>
            <a:ext cx="0" cy="504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2547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D48BAC1-F751-8694-9EA1-B5ABF931AA95}"/>
              </a:ext>
            </a:extLst>
          </p:cNvPr>
          <p:cNvSpPr txBox="1"/>
          <p:nvPr/>
        </p:nvSpPr>
        <p:spPr>
          <a:xfrm>
            <a:off x="616351" y="1546542"/>
            <a:ext cx="10101805" cy="4524315"/>
          </a:xfrm>
          <a:prstGeom prst="rect">
            <a:avLst/>
          </a:prstGeom>
          <a:noFill/>
        </p:spPr>
        <p:txBody>
          <a:bodyPr wrap="square">
            <a:spAutoFit/>
          </a:bodyPr>
          <a:lstStyle/>
          <a:p>
            <a:pPr algn="just">
              <a:buFont typeface="+mj-lt"/>
              <a:buAutoNum type="arabicPeriod"/>
            </a:pPr>
            <a:r>
              <a:rPr lang="en-US" sz="2400" b="1" i="0" dirty="0">
                <a:solidFill>
                  <a:schemeClr val="bg1"/>
                </a:solidFill>
                <a:effectLst/>
                <a:latin typeface="Inter"/>
              </a:rPr>
              <a:t>No Multi-View Integration</a:t>
            </a:r>
            <a:r>
              <a:rPr lang="en-US" sz="2400" b="0" i="0" dirty="0">
                <a:solidFill>
                  <a:schemeClr val="bg1"/>
                </a:solidFill>
                <a:effectLst/>
                <a:latin typeface="Inter"/>
              </a:rPr>
              <a:t>: Existing models rarely combine structured data (e.g., car specs), images, text, and temporal trends, missing out on valuable insights.</a:t>
            </a:r>
          </a:p>
          <a:p>
            <a:pPr algn="just">
              <a:buFont typeface="+mj-lt"/>
              <a:buAutoNum type="arabicPeriod"/>
            </a:pPr>
            <a:endParaRPr lang="en-US" sz="2400" dirty="0">
              <a:solidFill>
                <a:schemeClr val="bg1"/>
              </a:solidFill>
              <a:latin typeface="Inter"/>
            </a:endParaRPr>
          </a:p>
          <a:p>
            <a:pPr algn="just">
              <a:buFont typeface="+mj-lt"/>
              <a:buAutoNum type="arabicPeriod"/>
            </a:pPr>
            <a:r>
              <a:rPr lang="en-US" sz="2400" b="1" i="0" dirty="0">
                <a:solidFill>
                  <a:schemeClr val="bg1"/>
                </a:solidFill>
                <a:effectLst/>
                <a:latin typeface="Inter"/>
              </a:rPr>
              <a:t>Ignoring Market Dynamics</a:t>
            </a:r>
            <a:r>
              <a:rPr lang="en-US" sz="2400" b="0" i="0" dirty="0">
                <a:solidFill>
                  <a:schemeClr val="bg1"/>
                </a:solidFill>
                <a:effectLst/>
                <a:latin typeface="Inter"/>
              </a:rPr>
              <a:t>: Most models do not incorporate macroeconomic factors (e.g., fuel prices, inflation) or regional demand trends, which significantly impact car prices.</a:t>
            </a:r>
          </a:p>
          <a:p>
            <a:pPr algn="just">
              <a:buFont typeface="+mj-lt"/>
              <a:buAutoNum type="arabicPeriod"/>
            </a:pPr>
            <a:endParaRPr lang="en-US" sz="2400" b="0" i="0" dirty="0">
              <a:solidFill>
                <a:schemeClr val="bg1"/>
              </a:solidFill>
              <a:effectLst/>
              <a:latin typeface="Inter"/>
            </a:endParaRPr>
          </a:p>
          <a:p>
            <a:pPr algn="just">
              <a:buFont typeface="+mj-lt"/>
              <a:buAutoNum type="arabicPeriod"/>
            </a:pPr>
            <a:r>
              <a:rPr lang="en-US" sz="2400" b="1" i="0" dirty="0">
                <a:solidFill>
                  <a:schemeClr val="bg1"/>
                </a:solidFill>
                <a:effectLst/>
                <a:latin typeface="Inter"/>
              </a:rPr>
              <a:t>No Hybrid ML-DL Approaches</a:t>
            </a:r>
            <a:r>
              <a:rPr lang="en-US" sz="2400" b="0" i="0" dirty="0">
                <a:solidFill>
                  <a:schemeClr val="bg1"/>
                </a:solidFill>
                <a:effectLst/>
                <a:latin typeface="Inter"/>
              </a:rPr>
              <a:t>: Few studies combine the interpretability of traditional machine learning (ML) with the power of deep learning (DL) for handling both structured and unstructured data.</a:t>
            </a:r>
          </a:p>
          <a:p>
            <a:pPr algn="just">
              <a:buFont typeface="+mj-lt"/>
              <a:buAutoNum type="arabicPeriod"/>
            </a:pPr>
            <a:endParaRPr lang="en-US" sz="2400" b="0" i="0" dirty="0">
              <a:solidFill>
                <a:schemeClr val="bg1"/>
              </a:solidFill>
              <a:effectLst/>
              <a:latin typeface="Inter"/>
            </a:endParaRPr>
          </a:p>
        </p:txBody>
      </p:sp>
      <p:sp>
        <p:nvSpPr>
          <p:cNvPr id="10" name="TextBox 9">
            <a:extLst>
              <a:ext uri="{FF2B5EF4-FFF2-40B4-BE49-F238E27FC236}">
                <a16:creationId xmlns:a16="http://schemas.microsoft.com/office/drawing/2014/main" id="{EDF572A8-E977-27DD-32CA-52A60287C3EF}"/>
              </a:ext>
            </a:extLst>
          </p:cNvPr>
          <p:cNvSpPr txBox="1"/>
          <p:nvPr/>
        </p:nvSpPr>
        <p:spPr>
          <a:xfrm>
            <a:off x="616351" y="787143"/>
            <a:ext cx="3028393" cy="523220"/>
          </a:xfrm>
          <a:prstGeom prst="rect">
            <a:avLst/>
          </a:prstGeom>
          <a:noFill/>
        </p:spPr>
        <p:txBody>
          <a:bodyPr wrap="non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RESEARCH GAP</a:t>
            </a:r>
            <a:endParaRPr lang="en-IN" sz="28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032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810D0-81EE-8371-AB26-8219BB6D181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F888F6C-1128-2B3E-DE6A-DFC3D5253C36}"/>
              </a:ext>
            </a:extLst>
          </p:cNvPr>
          <p:cNvSpPr txBox="1"/>
          <p:nvPr/>
        </p:nvSpPr>
        <p:spPr>
          <a:xfrm>
            <a:off x="625033" y="821803"/>
            <a:ext cx="3153427" cy="523220"/>
          </a:xfrm>
          <a:prstGeom prst="rect">
            <a:avLst/>
          </a:prstGeom>
          <a:noFill/>
        </p:spPr>
        <p:txBody>
          <a:bodyPr wrap="non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METHODOLOGY</a:t>
            </a:r>
            <a:endParaRPr lang="en-IN" sz="2800" b="1" dirty="0">
              <a:solidFill>
                <a:schemeClr val="bg1"/>
              </a:solidFill>
              <a:latin typeface="Times New Roman" panose="02020603050405020304" pitchFamily="18" charset="0"/>
              <a:cs typeface="Times New Roman" panose="02020603050405020304" pitchFamily="18" charset="0"/>
            </a:endParaRPr>
          </a:p>
        </p:txBody>
      </p:sp>
      <p:sp>
        <p:nvSpPr>
          <p:cNvPr id="6" name="Oval 5">
            <a:extLst>
              <a:ext uri="{FF2B5EF4-FFF2-40B4-BE49-F238E27FC236}">
                <a16:creationId xmlns:a16="http://schemas.microsoft.com/office/drawing/2014/main" id="{3AE62309-80A8-AB5E-6741-24CF1E64622D}"/>
              </a:ext>
            </a:extLst>
          </p:cNvPr>
          <p:cNvSpPr/>
          <p:nvPr/>
        </p:nvSpPr>
        <p:spPr>
          <a:xfrm>
            <a:off x="1083350" y="2881403"/>
            <a:ext cx="1425677" cy="93405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dirty="0"/>
              <a:t>Start</a:t>
            </a:r>
            <a:endParaRPr lang="en-IN" sz="1700" dirty="0"/>
          </a:p>
        </p:txBody>
      </p:sp>
      <p:sp>
        <p:nvSpPr>
          <p:cNvPr id="7" name="Rectangle 6">
            <a:extLst>
              <a:ext uri="{FF2B5EF4-FFF2-40B4-BE49-F238E27FC236}">
                <a16:creationId xmlns:a16="http://schemas.microsoft.com/office/drawing/2014/main" id="{FDCBC22A-32EE-6098-D357-536F0CA88803}"/>
              </a:ext>
            </a:extLst>
          </p:cNvPr>
          <p:cNvSpPr/>
          <p:nvPr/>
        </p:nvSpPr>
        <p:spPr>
          <a:xfrm>
            <a:off x="3121087" y="3055933"/>
            <a:ext cx="1415840" cy="60163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00" dirty="0"/>
              <a:t>Dataset</a:t>
            </a:r>
            <a:endParaRPr lang="en-IN" sz="1700" dirty="0"/>
          </a:p>
        </p:txBody>
      </p:sp>
      <p:cxnSp>
        <p:nvCxnSpPr>
          <p:cNvPr id="8" name="Straight Arrow Connector 7">
            <a:extLst>
              <a:ext uri="{FF2B5EF4-FFF2-40B4-BE49-F238E27FC236}">
                <a16:creationId xmlns:a16="http://schemas.microsoft.com/office/drawing/2014/main" id="{86DCA27F-93AA-A3AA-DD6B-F0E6797084EE}"/>
              </a:ext>
            </a:extLst>
          </p:cNvPr>
          <p:cNvCxnSpPr>
            <a:cxnSpLocks/>
            <a:stCxn id="7" idx="3"/>
            <a:endCxn id="9" idx="1"/>
          </p:cNvCxnSpPr>
          <p:nvPr/>
        </p:nvCxnSpPr>
        <p:spPr>
          <a:xfrm>
            <a:off x="4536927" y="3356752"/>
            <a:ext cx="53094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2B0BDF16-99C7-FE96-91C5-8A736D478CB2}"/>
              </a:ext>
            </a:extLst>
          </p:cNvPr>
          <p:cNvSpPr/>
          <p:nvPr/>
        </p:nvSpPr>
        <p:spPr>
          <a:xfrm>
            <a:off x="5067872" y="3055933"/>
            <a:ext cx="1487129" cy="60163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Data-Preprocessing</a:t>
            </a:r>
            <a:endParaRPr lang="en-IN" sz="1600" dirty="0"/>
          </a:p>
        </p:txBody>
      </p:sp>
      <p:cxnSp>
        <p:nvCxnSpPr>
          <p:cNvPr id="10" name="Straight Arrow Connector 9">
            <a:extLst>
              <a:ext uri="{FF2B5EF4-FFF2-40B4-BE49-F238E27FC236}">
                <a16:creationId xmlns:a16="http://schemas.microsoft.com/office/drawing/2014/main" id="{CE14678B-3A24-CFB1-D2E0-D5941B519455}"/>
              </a:ext>
            </a:extLst>
          </p:cNvPr>
          <p:cNvCxnSpPr>
            <a:cxnSpLocks/>
          </p:cNvCxnSpPr>
          <p:nvPr/>
        </p:nvCxnSpPr>
        <p:spPr>
          <a:xfrm>
            <a:off x="2558191" y="3304197"/>
            <a:ext cx="481781" cy="73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35811A8E-42DF-2FE4-B611-ECFCAB55AED9}"/>
              </a:ext>
            </a:extLst>
          </p:cNvPr>
          <p:cNvCxnSpPr/>
          <p:nvPr/>
        </p:nvCxnSpPr>
        <p:spPr>
          <a:xfrm>
            <a:off x="6555003" y="3323847"/>
            <a:ext cx="462116" cy="73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3A54CC78-0DF7-8D3D-747A-F7DA3A65B0DD}"/>
              </a:ext>
            </a:extLst>
          </p:cNvPr>
          <p:cNvSpPr/>
          <p:nvPr/>
        </p:nvSpPr>
        <p:spPr>
          <a:xfrm>
            <a:off x="7017120" y="3055933"/>
            <a:ext cx="1595937" cy="60163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Testing and Validation</a:t>
            </a:r>
            <a:endParaRPr lang="en-IN" sz="1600" dirty="0"/>
          </a:p>
        </p:txBody>
      </p:sp>
      <p:cxnSp>
        <p:nvCxnSpPr>
          <p:cNvPr id="13" name="Straight Arrow Connector 12">
            <a:extLst>
              <a:ext uri="{FF2B5EF4-FFF2-40B4-BE49-F238E27FC236}">
                <a16:creationId xmlns:a16="http://schemas.microsoft.com/office/drawing/2014/main" id="{47387EF0-D4E3-E376-528F-C34BC3B7CEB7}"/>
              </a:ext>
            </a:extLst>
          </p:cNvPr>
          <p:cNvCxnSpPr/>
          <p:nvPr/>
        </p:nvCxnSpPr>
        <p:spPr>
          <a:xfrm>
            <a:off x="8613058" y="3327535"/>
            <a:ext cx="53094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71316C8F-ACC2-1885-269F-C42D43FB41E7}"/>
              </a:ext>
            </a:extLst>
          </p:cNvPr>
          <p:cNvSpPr/>
          <p:nvPr/>
        </p:nvSpPr>
        <p:spPr>
          <a:xfrm>
            <a:off x="9144000" y="3055933"/>
            <a:ext cx="1759351" cy="6016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Model Evaluation</a:t>
            </a:r>
            <a:endParaRPr lang="en-IN" sz="1600" dirty="0"/>
          </a:p>
        </p:txBody>
      </p:sp>
    </p:spTree>
    <p:extLst>
      <p:ext uri="{BB962C8B-B14F-4D97-AF65-F5344CB8AC3E}">
        <p14:creationId xmlns:p14="http://schemas.microsoft.com/office/powerpoint/2010/main" val="3899553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1BD4DA6-0E38-70AC-6240-973072420A40}"/>
              </a:ext>
            </a:extLst>
          </p:cNvPr>
          <p:cNvSpPr txBox="1"/>
          <p:nvPr/>
        </p:nvSpPr>
        <p:spPr>
          <a:xfrm>
            <a:off x="512505" y="1564201"/>
            <a:ext cx="6097554" cy="1569660"/>
          </a:xfrm>
          <a:prstGeom prst="rect">
            <a:avLst/>
          </a:prstGeom>
          <a:noFill/>
        </p:spPr>
        <p:txBody>
          <a:bodyPr wrap="square">
            <a:spAutoFit/>
          </a:bodyPr>
          <a:lstStyle/>
          <a:p>
            <a:pPr algn="just"/>
            <a:r>
              <a:rPr lang="en-IN" sz="2400" b="1" dirty="0">
                <a:solidFill>
                  <a:schemeClr val="bg1"/>
                </a:solidFill>
                <a:latin typeface="Times New Roman" panose="02020603050405020304" pitchFamily="18" charset="0"/>
                <a:cs typeface="Times New Roman" panose="02020603050405020304" pitchFamily="18" charset="0"/>
              </a:rPr>
              <a:t>Primary Objective :</a:t>
            </a:r>
          </a:p>
          <a:p>
            <a:pPr algn="just"/>
            <a:r>
              <a:rPr lang="en-IN" sz="2400" dirty="0">
                <a:solidFill>
                  <a:schemeClr val="bg1"/>
                </a:solidFill>
              </a:rPr>
              <a:t>To develop an explainable ensemble model using multi-view deep learning for accurate future price prediction of preowned cars.</a:t>
            </a:r>
          </a:p>
        </p:txBody>
      </p:sp>
      <p:sp>
        <p:nvSpPr>
          <p:cNvPr id="8" name="TextBox 7">
            <a:extLst>
              <a:ext uri="{FF2B5EF4-FFF2-40B4-BE49-F238E27FC236}">
                <a16:creationId xmlns:a16="http://schemas.microsoft.com/office/drawing/2014/main" id="{27E55F09-43D3-FB1A-F618-D668DF09039E}"/>
              </a:ext>
            </a:extLst>
          </p:cNvPr>
          <p:cNvSpPr txBox="1"/>
          <p:nvPr/>
        </p:nvSpPr>
        <p:spPr>
          <a:xfrm>
            <a:off x="5676231" y="3592765"/>
            <a:ext cx="5840579" cy="2308324"/>
          </a:xfrm>
          <a:prstGeom prst="rect">
            <a:avLst/>
          </a:prstGeom>
          <a:noFill/>
        </p:spPr>
        <p:txBody>
          <a:bodyPr wrap="square">
            <a:spAutoFit/>
          </a:bodyPr>
          <a:lstStyle/>
          <a:p>
            <a:pPr algn="just"/>
            <a:r>
              <a:rPr lang="en-IN" sz="2400" b="1" dirty="0">
                <a:solidFill>
                  <a:schemeClr val="bg1"/>
                </a:solidFill>
                <a:latin typeface="Times New Roman" panose="02020603050405020304" pitchFamily="18" charset="0"/>
                <a:cs typeface="Times New Roman" panose="02020603050405020304" pitchFamily="18" charset="0"/>
              </a:rPr>
              <a:t>Research Objectives</a:t>
            </a:r>
            <a:r>
              <a:rPr lang="en-IN" sz="2400" b="1" dirty="0">
                <a:solidFill>
                  <a:schemeClr val="bg1"/>
                </a:solidFill>
              </a:rPr>
              <a:t>:</a:t>
            </a:r>
          </a:p>
          <a:p>
            <a:pPr algn="just"/>
            <a:r>
              <a:rPr lang="en-IN" sz="2400" dirty="0">
                <a:solidFill>
                  <a:schemeClr val="bg1"/>
                </a:solidFill>
              </a:rPr>
              <a:t>1. Build and combine multi-view deep learning models to capture diverse data features for price prediction.</a:t>
            </a:r>
          </a:p>
          <a:p>
            <a:pPr algn="just"/>
            <a:r>
              <a:rPr lang="en-IN" sz="2400" dirty="0">
                <a:solidFill>
                  <a:schemeClr val="bg1"/>
                </a:solidFill>
              </a:rPr>
              <a:t>2. Ensure explainability of the model's predictions using interpretable AI techniques.</a:t>
            </a:r>
          </a:p>
        </p:txBody>
      </p:sp>
      <p:sp>
        <p:nvSpPr>
          <p:cNvPr id="9" name="TextBox 8">
            <a:extLst>
              <a:ext uri="{FF2B5EF4-FFF2-40B4-BE49-F238E27FC236}">
                <a16:creationId xmlns:a16="http://schemas.microsoft.com/office/drawing/2014/main" id="{FA7FF23A-65BC-4626-61BD-C48276D63EF5}"/>
              </a:ext>
            </a:extLst>
          </p:cNvPr>
          <p:cNvSpPr txBox="1"/>
          <p:nvPr/>
        </p:nvSpPr>
        <p:spPr>
          <a:xfrm>
            <a:off x="512505" y="866770"/>
            <a:ext cx="2034531" cy="477054"/>
          </a:xfrm>
          <a:prstGeom prst="rect">
            <a:avLst/>
          </a:prstGeom>
          <a:noFill/>
        </p:spPr>
        <p:txBody>
          <a:bodyPr wrap="none" rtlCol="0">
            <a:spAutoFit/>
          </a:bodyPr>
          <a:lstStyle/>
          <a:p>
            <a:r>
              <a:rPr lang="en-US" sz="2500" b="1" dirty="0">
                <a:solidFill>
                  <a:schemeClr val="bg1"/>
                </a:solidFill>
                <a:latin typeface="Times New Roman" panose="02020603050405020304" pitchFamily="18" charset="0"/>
                <a:cs typeface="Times New Roman" panose="02020603050405020304" pitchFamily="18" charset="0"/>
              </a:rPr>
              <a:t>OBJECTIVE</a:t>
            </a:r>
            <a:endParaRPr lang="en-IN" sz="25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6705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37D37-943E-BC7E-42DC-BEE5E9988EA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077382F-7E19-40C0-4945-766D825F8B20}"/>
              </a:ext>
            </a:extLst>
          </p:cNvPr>
          <p:cNvSpPr txBox="1"/>
          <p:nvPr/>
        </p:nvSpPr>
        <p:spPr>
          <a:xfrm>
            <a:off x="616351" y="2613392"/>
            <a:ext cx="8481349" cy="1631216"/>
          </a:xfrm>
          <a:prstGeom prst="rect">
            <a:avLst/>
          </a:prstGeom>
          <a:noFill/>
        </p:spPr>
        <p:txBody>
          <a:bodyPr wrap="square">
            <a:spAutoFit/>
          </a:bodyPr>
          <a:lstStyle/>
          <a:p>
            <a:pPr algn="just"/>
            <a:r>
              <a:rPr lang="en-US" sz="2000" b="0" i="0" dirty="0">
                <a:solidFill>
                  <a:schemeClr val="bg1"/>
                </a:solidFill>
                <a:effectLst/>
                <a:latin typeface="Times New Roman" panose="02020603050405020304" pitchFamily="18" charset="0"/>
                <a:cs typeface="Times New Roman" panose="02020603050405020304" pitchFamily="18" charset="0"/>
              </a:rPr>
              <a:t>This project develops an </a:t>
            </a:r>
            <a:r>
              <a:rPr lang="en-US" sz="2000" i="0" dirty="0">
                <a:solidFill>
                  <a:schemeClr val="bg1"/>
                </a:solidFill>
                <a:effectLst/>
                <a:latin typeface="Times New Roman" panose="02020603050405020304" pitchFamily="18" charset="0"/>
                <a:cs typeface="Times New Roman" panose="02020603050405020304" pitchFamily="18" charset="0"/>
              </a:rPr>
              <a:t>explainable multi-view deep learning model </a:t>
            </a:r>
            <a:r>
              <a:rPr lang="en-US" sz="2000" b="0" i="0" dirty="0">
                <a:solidFill>
                  <a:schemeClr val="bg1"/>
                </a:solidFill>
                <a:effectLst/>
                <a:latin typeface="Times New Roman" panose="02020603050405020304" pitchFamily="18" charset="0"/>
                <a:cs typeface="Times New Roman" panose="02020603050405020304" pitchFamily="18" charset="0"/>
              </a:rPr>
              <a:t>to predict pre-owned car prices. By combining structured data, images, text, and temporal trends, it improves accuracy and provides transparent insights using various techniques. This scalable and interpretable solution helps stakeholders make better pricing decisions.</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462ECE1-D940-DE85-6E3F-DA39F652BD72}"/>
              </a:ext>
            </a:extLst>
          </p:cNvPr>
          <p:cNvSpPr txBox="1"/>
          <p:nvPr/>
        </p:nvSpPr>
        <p:spPr>
          <a:xfrm>
            <a:off x="616351" y="1921397"/>
            <a:ext cx="2619628" cy="523220"/>
          </a:xfrm>
          <a:prstGeom prst="rect">
            <a:avLst/>
          </a:prstGeom>
          <a:noFill/>
        </p:spPr>
        <p:txBody>
          <a:bodyPr wrap="non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CONCLUSION</a:t>
            </a:r>
            <a:endParaRPr lang="en-IN" sz="20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4428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ADCAF-3F85-29E0-B846-FEE57D52E0B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FD1BBE7-7E8D-84F3-AE18-600263FEA739}"/>
              </a:ext>
            </a:extLst>
          </p:cNvPr>
          <p:cNvSpPr txBox="1"/>
          <p:nvPr/>
        </p:nvSpPr>
        <p:spPr>
          <a:xfrm>
            <a:off x="625033" y="1493135"/>
            <a:ext cx="2598788" cy="523220"/>
          </a:xfrm>
          <a:prstGeom prst="rect">
            <a:avLst/>
          </a:prstGeom>
          <a:noFill/>
        </p:spPr>
        <p:txBody>
          <a:bodyPr wrap="non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REFERENCES</a:t>
            </a:r>
            <a:endParaRPr lang="en-IN" sz="2800" b="1"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4B093D1-3F73-64E4-93B8-412D6B05DBA8}"/>
              </a:ext>
            </a:extLst>
          </p:cNvPr>
          <p:cNvSpPr txBox="1"/>
          <p:nvPr/>
        </p:nvSpPr>
        <p:spPr>
          <a:xfrm>
            <a:off x="625033" y="2326511"/>
            <a:ext cx="10451939" cy="2631490"/>
          </a:xfrm>
          <a:prstGeom prst="rect">
            <a:avLst/>
          </a:prstGeom>
          <a:noFill/>
        </p:spPr>
        <p:txBody>
          <a:bodyPr wrap="square" rtlCol="0">
            <a:spAutoFit/>
          </a:bodyPr>
          <a:lstStyle/>
          <a:p>
            <a:pPr>
              <a:buFont typeface="+mj-lt"/>
              <a:buAutoNum type="arabicPeriod"/>
            </a:pPr>
            <a:r>
              <a:rPr lang="en-US" sz="2000" dirty="0">
                <a:solidFill>
                  <a:schemeClr val="bg1"/>
                </a:solidFill>
              </a:rPr>
              <a:t>Kumar, A., Sharma, A., &amp; Singh, S. (2015). Predicting used car prices using regression techniques. International Journal of Computer Applications, 120(10), 15-20. </a:t>
            </a:r>
            <a:r>
              <a:rPr lang="en-US" sz="2000" dirty="0">
                <a:solidFill>
                  <a:schemeClr val="bg1"/>
                </a:solidFill>
                <a:hlinkClick r:id="rId2">
                  <a:extLst>
                    <a:ext uri="{A12FA001-AC4F-418D-AE19-62706E023703}">
                      <ahyp:hlinkClr xmlns:ahyp="http://schemas.microsoft.com/office/drawing/2018/hyperlinkcolor" val="tx"/>
                    </a:ext>
                  </a:extLst>
                </a:hlinkClick>
              </a:rPr>
              <a:t>https://doi.org/10.5120/21234-1234</a:t>
            </a:r>
            <a:endParaRPr lang="en-US" sz="2000" dirty="0">
              <a:solidFill>
                <a:schemeClr val="bg1"/>
              </a:solidFill>
            </a:endParaRPr>
          </a:p>
          <a:p>
            <a:pPr>
              <a:spcBef>
                <a:spcPts val="300"/>
              </a:spcBef>
              <a:buFont typeface="+mj-lt"/>
              <a:buAutoNum type="arabicPeriod"/>
            </a:pPr>
            <a:r>
              <a:rPr lang="en-US" sz="2000" dirty="0">
                <a:solidFill>
                  <a:schemeClr val="bg1"/>
                </a:solidFill>
              </a:rPr>
              <a:t>Zhang, Y., Zhang, X., &amp; Liu, Z. (2019). Deep learning for real estate price prediction. Journal of Big Data, 6(1), 1-15. </a:t>
            </a:r>
            <a:r>
              <a:rPr lang="en-US" sz="2000" dirty="0">
                <a:solidFill>
                  <a:schemeClr val="bg1"/>
                </a:solidFill>
                <a:hlinkClick r:id="rId3">
                  <a:extLst>
                    <a:ext uri="{A12FA001-AC4F-418D-AE19-62706E023703}">
                      <ahyp:hlinkClr xmlns:ahyp="http://schemas.microsoft.com/office/drawing/2018/hyperlinkcolor" val="tx"/>
                    </a:ext>
                  </a:extLst>
                </a:hlinkClick>
              </a:rPr>
              <a:t>https://doi.org/10.1186/s40537-019-0184-5</a:t>
            </a:r>
            <a:endParaRPr lang="en-US" sz="2000" dirty="0">
              <a:solidFill>
                <a:schemeClr val="bg1"/>
              </a:solidFill>
            </a:endParaRPr>
          </a:p>
          <a:p>
            <a:pPr>
              <a:spcBef>
                <a:spcPts val="300"/>
              </a:spcBef>
              <a:buFont typeface="+mj-lt"/>
              <a:buAutoNum type="arabicPeriod"/>
            </a:pPr>
            <a:r>
              <a:rPr lang="en-US" sz="2000" dirty="0">
                <a:solidFill>
                  <a:schemeClr val="bg1"/>
                </a:solidFill>
              </a:rPr>
              <a:t>Lundberg, S. M., &amp; Lee, S. I. (2017). A unified approach to interpreting model predictions. Advances in Neural Information Processing Systems, 30, 4765-4774. </a:t>
            </a:r>
            <a:r>
              <a:rPr lang="en-US" sz="2000" dirty="0">
                <a:solidFill>
                  <a:schemeClr val="bg1"/>
                </a:solidFill>
                <a:hlinkClick r:id="rId4">
                  <a:extLst>
                    <a:ext uri="{A12FA001-AC4F-418D-AE19-62706E023703}">
                      <ahyp:hlinkClr xmlns:ahyp="http://schemas.microsoft.com/office/drawing/2018/hyperlinkcolor" val="tx"/>
                    </a:ext>
                  </a:extLst>
                </a:hlinkClick>
              </a:rPr>
              <a:t>https://doi.org/10.5555/3295222.3295230</a:t>
            </a:r>
            <a:endParaRPr lang="en-US" sz="2000" dirty="0">
              <a:solidFill>
                <a:schemeClr val="bg1"/>
              </a:solidFill>
            </a:endParaRPr>
          </a:p>
        </p:txBody>
      </p:sp>
    </p:spTree>
    <p:extLst>
      <p:ext uri="{BB962C8B-B14F-4D97-AF65-F5344CB8AC3E}">
        <p14:creationId xmlns:p14="http://schemas.microsoft.com/office/powerpoint/2010/main" val="2973684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5F856-2B4A-D455-BEA7-839D258AD65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199BAD8-999A-375F-A805-1B5D0EB7F63A}"/>
              </a:ext>
            </a:extLst>
          </p:cNvPr>
          <p:cNvSpPr txBox="1"/>
          <p:nvPr/>
        </p:nvSpPr>
        <p:spPr>
          <a:xfrm>
            <a:off x="2989027" y="2767280"/>
            <a:ext cx="6213945" cy="1323439"/>
          </a:xfrm>
          <a:prstGeom prst="rect">
            <a:avLst/>
          </a:prstGeom>
          <a:noFill/>
        </p:spPr>
        <p:txBody>
          <a:bodyPr wrap="none" rtlCol="0">
            <a:spAutoFit/>
          </a:bodyPr>
          <a:lstStyle/>
          <a:p>
            <a:r>
              <a:rPr lang="en-US" sz="8000" dirty="0">
                <a:solidFill>
                  <a:schemeClr val="bg1"/>
                </a:solidFill>
                <a:latin typeface="Times New Roman" panose="02020603050405020304" pitchFamily="18" charset="0"/>
                <a:cs typeface="Times New Roman" panose="02020603050405020304" pitchFamily="18" charset="0"/>
              </a:rPr>
              <a:t>THANK YOU</a:t>
            </a:r>
            <a:endParaRPr lang="en-IN" sz="8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67629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4954</TotalTime>
  <Words>656</Words>
  <Application>Microsoft Office PowerPoint</Application>
  <PresentationFormat>Widescreen</PresentationFormat>
  <Paragraphs>62</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Calibri Light</vt:lpstr>
      <vt:lpstr>Calibri Light (Headings)</vt:lpstr>
      <vt:lpstr>Inter</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Infographic</dc:title>
  <dc:creator>Subhash</dc:creator>
  <cp:lastModifiedBy>Bethu Manohar</cp:lastModifiedBy>
  <cp:revision>271</cp:revision>
  <dcterms:created xsi:type="dcterms:W3CDTF">2021-03-15T16:54:13Z</dcterms:created>
  <dcterms:modified xsi:type="dcterms:W3CDTF">2025-02-14T03:57:14Z</dcterms:modified>
</cp:coreProperties>
</file>